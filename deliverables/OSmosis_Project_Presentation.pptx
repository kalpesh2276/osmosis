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0740f2d-b1d1-5a20-8341-782765b7e651}">
          <p14:sldIdLst>
            <p14:sldId id="256"/>
          </p14:sldIdLst>
        </p14:section>
        <p14:section name="Introduction" id="{dc7866c2-8b96-eb05-24f6-c28a6acd1727}">
          <p14:sldIdLst>
            <p14:sldId id="257"/>
          </p14:sldIdLst>
        </p14:section>
        <p14:section name="Methodology" id="{7ea2c4a5-ed6b-afff-133d-7a6f68331bdc}">
          <p14:sldIdLst>
            <p14:sldId id="258"/>
          </p14:sldIdLst>
        </p14:section>
        <p14:section name="Research and development" id="{d924c6ab-6a78-6e78-d25a-1e459d2f61b4}">
          <p14:sldIdLst>
            <p14:sldId id="259"/>
          </p14:sldIdLst>
        </p14:section>
        <p14:section name="Features and evaluation" id="{678d7f8c-4994-8a0e-a26a-a6412368d3a6}">
          <p14:sldIdLst>
            <p14:sldId id="260"/>
          </p14:sldIdLst>
        </p14:section>
        <p14:section name="Conclusion" id="{f2a5e820-00b9-c07d-1e88-163c654695c6}">
          <p14:sldIdLst>
            <p14:sldId id="261"/>
          </p14:sldIdLst>
        </p14:section>
        <p14:section name="References" id="{ca6981ff-6491-72d6-4fca-fb87de290e3f}">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3A5F"/>
                </a:solidFill>
                <a:latin typeface="+mn-lt"/>
              </a:defRPr>
            </a:pPr>
            <a:r>
              <a:rPr sz="1300" b="0" i="0" u="none" strike="noStrike">
                <a:solidFill>
                  <a:srgbClr val="1E3A5F"/>
                </a:solidFill>
                <a:latin typeface="+mn-lt"/>
              </a:rPr>
              <a:t>Retrieval on 78 labelled questions (%)</a:t>
            </a:r>
          </a:p>
        </c:rich>
      </c:tx>
      <c:layout/>
      <c:overlay val="0"/>
    </c:title>
    <c:autoTitleDeleted val="0"/>
    <c:plotArea>
      <c:layout/>
      <c:barChart>
        <c:barDir val="col"/>
        <c:grouping val="clustered"/>
        <c:varyColors val="0"/>
        <c:ser>
          <c:idx val="0"/>
          <c:order val="0"/>
          <c:tx>
            <c:strRef>
              <c:f>Sheet1!$B$1</c:f>
              <c:strCache>
                <c:ptCount val="1"/>
                <c:pt idx="0">
                  <c:v>Baseline (RRF 1:1, teacher ×1.15)</c:v>
                </c:pt>
              </c:strCache>
            </c:strRef>
          </c:tx>
          <c:spPr>
            <a:solidFill>
              <a:srgbClr val="94A3B8"/>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Hit@1</c:v>
                  </c:pt>
                  <c:pt idx="1">
                    <c:v>Hit@3</c:v>
                  </c:pt>
                  <c:pt idx="2">
                    <c:v>Hit@6</c:v>
                  </c:pt>
                </c:lvl>
              </c:multiLvlStrCache>
            </c:multiLvlStrRef>
          </c:cat>
          <c:val>
            <c:numRef>
              <c:f>Sheet1!$B$2:$B$4</c:f>
              <c:numCache>
                <c:formatCode>General</c:formatCode>
                <c:ptCount val="3"/>
                <c:pt idx="0">
                  <c:v>71.8</c:v>
                </c:pt>
                <c:pt idx="1">
                  <c:v>93.6</c:v>
                </c:pt>
                <c:pt idx="2">
                  <c:v>98.7</c:v>
                </c:pt>
              </c:numCache>
            </c:numRef>
          </c:val>
        </c:ser>
        <c:ser>
          <c:idx val="1"/>
          <c:order val="1"/>
          <c:tx>
            <c:strRef>
              <c:f>Sheet1!$C$1</c:f>
              <c:strCache>
                <c:ptCount val="1"/>
                <c:pt idx="0">
                  <c:v>Selected configuration</c:v>
                </c:pt>
              </c:strCache>
            </c:strRef>
          </c:tx>
          <c:spPr>
            <a:solidFill>
              <a:srgbClr val="0F766E"/>
            </a:solidFill>
            <a:effectLst/>
          </c:spPr>
          <c:invertIfNegative val="0"/>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Hit@1</c:v>
                  </c:pt>
                  <c:pt idx="1">
                    <c:v>Hit@3</c:v>
                  </c:pt>
                  <c:pt idx="2">
                    <c:v>Hit@6</c:v>
                  </c:pt>
                </c:lvl>
              </c:multiLvlStrCache>
            </c:multiLvlStrRef>
          </c:cat>
          <c:val>
            <c:numRef>
              <c:f>Sheet1!$C$2:$C$4</c:f>
              <c:numCache>
                <c:formatCode>General</c:formatCode>
                <c:ptCount val="3"/>
                <c:pt idx="0">
                  <c:v>76.9</c:v>
                </c:pt>
                <c:pt idx="1">
                  <c:v>94.9</c:v>
                </c:pt>
                <c:pt idx="2">
                  <c:v>98.7</c:v>
                </c:pt>
              </c:numCache>
            </c:numRef>
          </c:val>
        </c:ser>
        <c:dLbls>
          <c:numFmt formatCode="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OSmosis is a tutor for our Operating Systems course. It answers questions from the course's own textbook, teacher slides and lab notes, computes numerical answers exactly in code, and shows students where their own working goes wrong.
Before presenting: replace every bracketed placeholder (course code and name, student name, registration number, faculty, school, academic year) and insert the VIT logo in the dashed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three things the usual resources do not give together: explanations in their own course's terms, exact solutions to numerical problems, and feedback on where their own reasoning failed.
Eight objectives. Six are achieved and tested. Two are implemented but not fully validated: the misconception rules are unit-tested but were not validated with students, and the quality of LLM-written quiz questions and answers was not evaluated quantitatively, because no API key was available in the test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goes through one detector. If it states a numerical problem, the matching solver computes the exact answer, on the right. In parallel, retrieval on the left selects the six most relevant course passages: BM25 for exact terms, BGE embeddings for paraphrases, combined with weighted reciprocal rank fusion.
The LLM receives the passages and, for numericals, the solver's result as fixed text. It explains and cites; it never computes. The same solver traces drive the debugger, OS Lab and the learning map. Without an API key, every feature except written answers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audit found that the original teacher boost let unrelated slides outrank passages both rankers placed first, and that end-of-chapter material sometimes ranked first. We scored 147 fusion settings on 59 questions and kept 19 aside. The selected configuration raised first-rank accuracy from 71.8 to 76.9 percent, and on the held-out questions from 84.2 to 94.7 percent, without lowering top-3 or top-6.
Prompts restrict the LLM to the numbered sources and require citations; this is enforced in code by stripping invalid tags. Numbers always come from the solvers. Limits: the question set is small and labelled by the developer, and LLM answer quality was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the running application, taken without an LLM key. On the left, the Reasoning Debugger compares a student's SRTF chart with the solver's and finds the first wrong decision, at t = 1, with its cause; the hint never gives the answer away. In the middle, OS Lab replays the teacher's Round Robin example: the student predicted P2, but the course rule queues the newly arrived process first, so P3 runs. On the right, the Banker's solver shows the safe sequence with Work after each step.
Evaluation: 71 automated tests across seven suites all pass, the solvers reproduce the 20 worked examples, and every page was exercised in a browser. What is not yet evaluated: the quality of LLM-written answers and questions, and any study with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design choice is separating grounded explanation from exact computation. It uses the LLM where it is strong and keeps every Gantt chart, safe sequence and fault count correct by construction. It also makes diagnosis possible: the same recorded states locate a student's first wrong step.
Three next steps: a reranker for the remaining retrieval errors, validation with students, and a quantitative evaluation of LLM output, together with making the progress file safe when several browser sessions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sources behind the design: the course textbook, retrieval-augmented generation, BM25, the BGE embedding model, reciprocal rank fusion and the gpt-oss model. The numbers match the full reference list in the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680960" cy="109728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Shape 0"/>
          <p:cNvSpPr/>
          <p:nvPr/>
        </p:nvSpPr>
        <p:spPr>
          <a:xfrm>
            <a:off x="548640" y="1051560"/>
            <a:ext cx="11091672" cy="0"/>
          </a:xfrm>
          <a:prstGeom prst="line">
            <a:avLst/>
          </a:prstGeom>
          <a:noFill/>
          <a:ln w="19050">
            <a:solidFill>
              <a:schemeClr val="accent1"/>
            </a:solidFill>
            <a:prstDash val="solid"/>
          </a:ln>
        </p:spPr>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Shape 0"/>
          <p:cNvSpPr/>
          <p:nvPr/>
        </p:nvSpPr>
        <p:spPr>
          <a:xfrm>
            <a:off x="548640" y="1051560"/>
            <a:ext cx="11091672" cy="0"/>
          </a:xfrm>
          <a:prstGeom prst="line">
            <a:avLst/>
          </a:prstGeom>
          <a:noFill/>
          <a:ln w="19050">
            <a:solidFill>
              <a:schemeClr val="accent1"/>
            </a:solidFill>
            <a:prstDash val="solid"/>
          </a:ln>
        </p:spPr>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680960" cy="109728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OSmosis</a:t>
            </a:r>
            <a:endParaRPr lang="en-US" sz="4800" dirty="0"/>
          </a:p>
        </p:txBody>
      </p:sp>
      <p:sp>
        <p:nvSpPr>
          <p:cNvPr id="3" name="Text 1"/>
          <p:cNvSpPr txBox="1"/>
          <p:nvPr/>
        </p:nvSpPr>
        <p:spPr>
          <a:xfrm>
            <a:off x="640080" y="2697480"/>
            <a:ext cx="7498080" cy="914400"/>
          </a:xfrm>
          <a:prstGeom prst="rect">
            <a:avLst/>
          </a:prstGeom>
          <a:noFill/>
          <a:ln/>
        </p:spPr>
        <p:txBody>
          <a:bodyPr wrap="square" lIns="0" tIns="0" rIns="0" bIns="0" rtlCol="0" anchor="t"/>
          <a:lstStyle/>
          <a:p>
            <a:pPr indent="0" marL="0">
              <a:buNone/>
            </a:pPr>
            <a:r>
              <a:rPr lang="en-US" sz="1800" i="1" dirty="0">
                <a:solidFill>
                  <a:schemeClr val="bg2"/>
                </a:solidFill>
              </a:rPr>
              <a:t>A course-grounded tutor for Operating Systems: retrieval-augmented explanations, exact numerical solvers and diagnosis of student reasoning</a:t>
            </a:r>
            <a:endParaRPr lang="en-US" sz="1800" dirty="0"/>
          </a:p>
        </p:txBody>
      </p:sp>
      <p:sp>
        <p:nvSpPr>
          <p:cNvPr id="4" name="Shape 2"/>
          <p:cNvSpPr/>
          <p:nvPr/>
        </p:nvSpPr>
        <p:spPr>
          <a:xfrm>
            <a:off x="640080" y="3886200"/>
            <a:ext cx="2011680" cy="0"/>
          </a:xfrm>
          <a:prstGeom prst="line">
            <a:avLst/>
          </a:prstGeom>
          <a:noFill/>
          <a:ln w="38100">
            <a:solidFill>
              <a:schemeClr val="accent1"/>
            </a:solidFill>
            <a:prstDash val="solid"/>
          </a:ln>
        </p:spPr>
      </p:sp>
      <p:sp>
        <p:nvSpPr>
          <p:cNvPr id="5" name="Text 3"/>
          <p:cNvSpPr txBox="1"/>
          <p:nvPr/>
        </p:nvSpPr>
        <p:spPr>
          <a:xfrm>
            <a:off x="640080" y="4114800"/>
            <a:ext cx="7863840" cy="146304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[Course code] - [Course name]</a:t>
            </a:r>
            <a:endParaRPr lang="en-US" sz="1600" dirty="0"/>
          </a:p>
          <a:p>
            <a:pPr indent="0" marL="0">
              <a:spcAft>
                <a:spcPts val="600"/>
              </a:spcAft>
              <a:buNone/>
            </a:pPr>
            <a:r>
              <a:rPr lang="en-US" sz="1600" dirty="0">
                <a:solidFill>
                  <a:schemeClr val="bg1"/>
                </a:solidFill>
              </a:rPr>
              <a:t>[Student name]   |   [Registration number]</a:t>
            </a:r>
            <a:endParaRPr lang="en-US" sz="1600" dirty="0"/>
          </a:p>
          <a:p>
            <a:pPr indent="0" marL="0">
              <a:spcAft>
                <a:spcPts val="600"/>
              </a:spcAft>
              <a:buNone/>
            </a:pPr>
            <a:r>
              <a:rPr lang="en-US" sz="1600" dirty="0">
                <a:solidFill>
                  <a:schemeClr val="bg1"/>
                </a:solidFill>
              </a:rPr>
              <a:t>Faculty: [Faculty name]</a:t>
            </a:r>
            <a:endParaRPr lang="en-US" sz="1600" dirty="0"/>
          </a:p>
          <a:p>
            <a:pPr indent="0" marL="0">
              <a:spcAft>
                <a:spcPts val="600"/>
              </a:spcAft>
              <a:buNone/>
            </a:pPr>
            <a:r>
              <a:rPr lang="en-US" sz="1600" dirty="0">
                <a:solidFill>
                  <a:schemeClr val="bg1"/>
                </a:solidFill>
              </a:rPr>
              <a:t>[School / Department], Vellore Institute of Technology   |   [Academic year]</a:t>
            </a:r>
            <a:endParaRPr lang="en-US" sz="1600" dirty="0"/>
          </a:p>
        </p:txBody>
      </p:sp>
      <p:sp>
        <p:nvSpPr>
          <p:cNvPr id="6" name="Logo placeholder"/>
          <p:cNvSpPr txBox="1"/>
          <p:nvPr/>
        </p:nvSpPr>
        <p:spPr>
          <a:xfrm>
            <a:off x="9326880" y="548640"/>
            <a:ext cx="2286000" cy="1188720"/>
          </a:xfrm>
          <a:prstGeom prst="rect">
            <a:avLst/>
          </a:prstGeom>
          <a:solidFill>
            <a:schemeClr val="bg1">
              <a:alpha val="8000"/>
            </a:schemeClr>
          </a:solidFill>
          <a:ln w="12700">
            <a:solidFill>
              <a:schemeClr val="accent6"/>
            </a:solidFill>
            <a:prstDash val="dash"/>
          </a:ln>
        </p:spPr>
        <p:txBody>
          <a:bodyPr wrap="square" rtlCol="0" anchor="ctr"/>
          <a:lstStyle/>
          <a:p>
            <a:pPr algn="ctr" indent="0" marL="0">
              <a:buNone/>
            </a:pPr>
            <a:r>
              <a:rPr lang="en-US" sz="1400" dirty="0">
                <a:solidFill>
                  <a:schemeClr val="accent6"/>
                </a:solidFill>
              </a:rPr>
              <a:t>[VIT logo]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Introduction and objectives</a:t>
            </a:r>
            <a:endParaRPr lang="en-US" sz="2800" dirty="0"/>
          </a:p>
        </p:txBody>
      </p:sp>
      <p:sp>
        <p:nvSpPr>
          <p:cNvPr id="3" name="Text 1"/>
          <p:cNvSpPr txBox="1"/>
          <p:nvPr/>
        </p:nvSpPr>
        <p:spPr>
          <a:xfrm>
            <a:off x="548640" y="1325880"/>
            <a:ext cx="48463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The problem</a:t>
            </a:r>
            <a:endParaRPr lang="en-US" sz="1800" dirty="0"/>
          </a:p>
        </p:txBody>
      </p:sp>
      <p:sp>
        <p:nvSpPr>
          <p:cNvPr id="4" name="Text 2"/>
          <p:cNvSpPr txBox="1"/>
          <p:nvPr/>
        </p:nvSpPr>
        <p:spPr>
          <a:xfrm>
            <a:off x="548640" y="1783080"/>
            <a:ext cx="4846320" cy="2651760"/>
          </a:xfrm>
          <a:prstGeom prst="rect">
            <a:avLst/>
          </a:prstGeom>
          <a:noFill/>
          <a:ln/>
        </p:spPr>
        <p:txBody>
          <a:bodyPr wrap="square" lIns="0" tIns="0" rIns="0" bIns="0" rtlCol="0" anchor="t"/>
          <a:lstStyle/>
          <a:p>
            <a:pPr marL="190500" indent="-190500">
              <a:spcAft>
                <a:spcPts val="1000"/>
              </a:spcAft>
              <a:buSzPct val="100000"/>
              <a:buChar char="•"/>
            </a:pPr>
            <a:r>
              <a:rPr lang="en-US" sz="1400" b="1" dirty="0">
                <a:solidFill>
                  <a:schemeClr val="tx1"/>
                </a:solidFill>
              </a:rPr>
              <a:t>Static material shows results, not reasoning: </a:t>
            </a:r>
            <a:pPr indent="0" marL="0">
              <a:spcAft>
                <a:spcPts val="1000"/>
              </a:spcAft>
              <a:buNone/>
            </a:pPr>
            <a:r>
              <a:rPr lang="en-US" sz="1400" dirty="0">
                <a:solidFill>
                  <a:schemeClr val="tx1"/>
                </a:solidFill>
              </a:rPr>
              <a:t>a worked example gives the final schedule, not why each decision was taken.</a:t>
            </a:r>
            <a:endParaRPr lang="en-US" sz="1400" dirty="0"/>
          </a:p>
          <a:p>
            <a:pPr marL="190500" indent="-190500">
              <a:spcAft>
                <a:spcPts val="1000"/>
              </a:spcAft>
              <a:buSzPct val="100000"/>
              <a:buChar char="•"/>
            </a:pPr>
            <a:r>
              <a:rPr lang="en-US" sz="1400" b="1" dirty="0">
                <a:solidFill>
                  <a:schemeClr val="tx1"/>
                </a:solidFill>
              </a:rPr>
              <a:t>Numerical problems are error-prone: </a:t>
            </a:r>
            <a:pPr indent="0" marL="0">
              <a:spcAft>
                <a:spcPts val="1000"/>
              </a:spcAft>
              <a:buNone/>
            </a:pPr>
            <a:r>
              <a:rPr lang="en-US" sz="1400" dirty="0">
                <a:solidFill>
                  <a:schemeClr val="tx1"/>
                </a:solidFill>
              </a:rPr>
              <a:t>one missed preemption changes every later value, and final answers cannot show where it went wrong.</a:t>
            </a:r>
            <a:endParaRPr lang="en-US" sz="1400" dirty="0"/>
          </a:p>
          <a:p>
            <a:pPr marL="190500" indent="-190500">
              <a:spcAft>
                <a:spcPts val="1000"/>
              </a:spcAft>
              <a:buSzPct val="100000"/>
              <a:buChar char="•"/>
            </a:pPr>
            <a:r>
              <a:rPr lang="en-US" sz="1400" b="1" dirty="0">
                <a:solidFill>
                  <a:schemeClr val="tx1"/>
                </a:solidFill>
              </a:rPr>
              <a:t>Generic AI answers are not tied to the course: </a:t>
            </a:r>
            <a:pPr indent="0" marL="0">
              <a:spcAft>
                <a:spcPts val="1000"/>
              </a:spcAft>
              <a:buNone/>
            </a:pPr>
            <a:r>
              <a:rPr lang="en-US" sz="1400" dirty="0">
                <a:solidFill>
                  <a:schemeClr val="tx1"/>
                </a:solidFill>
              </a:rPr>
              <a:t>different conventions, no citations, unreliable arithmetic.</a:t>
            </a:r>
            <a:endParaRPr lang="en-US" sz="1400" dirty="0"/>
          </a:p>
        </p:txBody>
      </p:sp>
      <p:sp>
        <p:nvSpPr>
          <p:cNvPr id="5" name="Goal"/>
          <p:cNvSpPr txBox="1"/>
          <p:nvPr/>
        </p:nvSpPr>
        <p:spPr>
          <a:xfrm>
            <a:off x="548640" y="4617720"/>
            <a:ext cx="4846320" cy="1234440"/>
          </a:xfrm>
          <a:prstGeom prst="rect">
            <a:avLst/>
          </a:prstGeom>
          <a:solidFill>
            <a:schemeClr val="bg2"/>
          </a:solidFill>
          <a:ln>
            <a:solidFill>
              <a:schemeClr val="bg2"/>
            </a:solidFill>
          </a:ln>
        </p:spPr>
        <p:txBody>
          <a:bodyPr wrap="square" lIns="127000" tIns="127000" rIns="127000" bIns="127000" rtlCol="0" anchor="ctr"/>
          <a:lstStyle/>
          <a:p>
            <a:pPr indent="0" marL="0">
              <a:buNone/>
            </a:pPr>
            <a:r>
              <a:rPr lang="en-US" sz="1400" i="1" dirty="0">
                <a:solidFill>
                  <a:schemeClr val="tx2"/>
                </a:solidFill>
              </a:rPr>
              <a:t>Goal: explanations grounded in the course material, exact answers to numerical problems, and feedback on the step where a student's reasoning fails.</a:t>
            </a:r>
            <a:endParaRPr lang="en-US" sz="1400" dirty="0"/>
          </a:p>
        </p:txBody>
      </p:sp>
      <p:sp>
        <p:nvSpPr>
          <p:cNvPr id="6" name="Text 4"/>
          <p:cNvSpPr txBox="1"/>
          <p:nvPr/>
        </p:nvSpPr>
        <p:spPr>
          <a:xfrm>
            <a:off x="5852160" y="1325880"/>
            <a:ext cx="576072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Objectives and status</a:t>
            </a:r>
            <a:endParaRPr lang="en-US" sz="1800" dirty="0"/>
          </a:p>
        </p:txBody>
      </p:sp>
      <p:sp>
        <p:nvSpPr>
          <p:cNvPr id="7" name="Text 5"/>
          <p:cNvSpPr txBox="1"/>
          <p:nvPr/>
        </p:nvSpPr>
        <p:spPr>
          <a:xfrm>
            <a:off x="5852160" y="1828800"/>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6"/>
          <p:cNvSpPr txBox="1"/>
          <p:nvPr/>
        </p:nvSpPr>
        <p:spPr>
          <a:xfrm>
            <a:off x="6309360" y="1810512"/>
            <a:ext cx="3246120" cy="347472"/>
          </a:xfrm>
          <a:prstGeom prst="rect">
            <a:avLst/>
          </a:prstGeom>
          <a:noFill/>
          <a:ln/>
        </p:spPr>
        <p:txBody>
          <a:bodyPr wrap="square" lIns="0" tIns="0" rIns="0" bIns="0" rtlCol="0" anchor="ctr"/>
          <a:lstStyle/>
          <a:p>
            <a:pPr indent="0" marL="0">
              <a:buNone/>
            </a:pPr>
            <a:r>
              <a:rPr lang="en-US" sz="1350" dirty="0">
                <a:solidFill>
                  <a:schemeClr val="tx1"/>
                </a:solidFill>
              </a:rPr>
              <a:t>Course-grounded answers with RAG</a:t>
            </a:r>
            <a:endParaRPr lang="en-US" sz="1350" dirty="0"/>
          </a:p>
        </p:txBody>
      </p:sp>
      <p:sp>
        <p:nvSpPr>
          <p:cNvPr id="9" name="Text 7"/>
          <p:cNvSpPr txBox="1"/>
          <p:nvPr/>
        </p:nvSpPr>
        <p:spPr>
          <a:xfrm>
            <a:off x="9646920" y="1837944"/>
            <a:ext cx="1965960" cy="292608"/>
          </a:xfrm>
          <a:prstGeom prst="roundRect">
            <a:avLst>
              <a:gd name="adj" fmla="val 31250"/>
            </a:avLst>
          </a:prstGeom>
          <a:solidFill>
            <a:srgbClr val="0F766E">
              <a:alpha val="15000"/>
            </a:srgbClr>
          </a:solidFill>
          <a:ln w="9525">
            <a:solidFill>
              <a:srgbClr val="0F766E"/>
            </a:solidFill>
          </a:ln>
        </p:spPr>
        <p:txBody>
          <a:bodyPr wrap="square" lIns="0" tIns="0" rIns="0" bIns="0" rtlCol="0" anchor="ctr"/>
          <a:lstStyle/>
          <a:p>
            <a:pPr algn="ctr" indent="0" marL="0">
              <a:buNone/>
            </a:pPr>
            <a:r>
              <a:rPr lang="en-US" sz="1000" b="1" dirty="0">
                <a:solidFill>
                  <a:srgbClr val="0F766E"/>
                </a:solidFill>
              </a:rPr>
              <a:t>Achieved</a:t>
            </a:r>
            <a:endParaRPr lang="en-US" sz="1000" dirty="0"/>
          </a:p>
        </p:txBody>
      </p:sp>
      <p:sp>
        <p:nvSpPr>
          <p:cNvPr id="10" name="Text 8"/>
          <p:cNvSpPr txBox="1"/>
          <p:nvPr/>
        </p:nvSpPr>
        <p:spPr>
          <a:xfrm>
            <a:off x="5852160" y="2336292"/>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9"/>
          <p:cNvSpPr txBox="1"/>
          <p:nvPr/>
        </p:nvSpPr>
        <p:spPr>
          <a:xfrm>
            <a:off x="6309360" y="2318004"/>
            <a:ext cx="3246120" cy="347472"/>
          </a:xfrm>
          <a:prstGeom prst="rect">
            <a:avLst/>
          </a:prstGeom>
          <a:noFill/>
          <a:ln/>
        </p:spPr>
        <p:txBody>
          <a:bodyPr wrap="square" lIns="0" tIns="0" rIns="0" bIns="0" rtlCol="0" anchor="ctr"/>
          <a:lstStyle/>
          <a:p>
            <a:pPr indent="0" marL="0">
              <a:buNone/>
            </a:pPr>
            <a:r>
              <a:rPr lang="en-US" sz="1350" dirty="0">
                <a:solidFill>
                  <a:schemeClr val="tx1"/>
                </a:solidFill>
              </a:rPr>
              <a:t>Citations, figures and slide images</a:t>
            </a:r>
            <a:endParaRPr lang="en-US" sz="1350" dirty="0"/>
          </a:p>
        </p:txBody>
      </p:sp>
      <p:sp>
        <p:nvSpPr>
          <p:cNvPr id="12" name="Text 10"/>
          <p:cNvSpPr txBox="1"/>
          <p:nvPr/>
        </p:nvSpPr>
        <p:spPr>
          <a:xfrm>
            <a:off x="9646920" y="2345436"/>
            <a:ext cx="1965960" cy="292608"/>
          </a:xfrm>
          <a:prstGeom prst="roundRect">
            <a:avLst>
              <a:gd name="adj" fmla="val 31250"/>
            </a:avLst>
          </a:prstGeom>
          <a:solidFill>
            <a:srgbClr val="0F766E">
              <a:alpha val="15000"/>
            </a:srgbClr>
          </a:solidFill>
          <a:ln w="9525">
            <a:solidFill>
              <a:srgbClr val="0F766E"/>
            </a:solidFill>
          </a:ln>
        </p:spPr>
        <p:txBody>
          <a:bodyPr wrap="square" lIns="0" tIns="0" rIns="0" bIns="0" rtlCol="0" anchor="ctr"/>
          <a:lstStyle/>
          <a:p>
            <a:pPr algn="ctr" indent="0" marL="0">
              <a:buNone/>
            </a:pPr>
            <a:r>
              <a:rPr lang="en-US" sz="1000" b="1" dirty="0">
                <a:solidFill>
                  <a:srgbClr val="0F766E"/>
                </a:solidFill>
              </a:rPr>
              <a:t>Achieved</a:t>
            </a:r>
            <a:endParaRPr lang="en-US" sz="1000" dirty="0"/>
          </a:p>
        </p:txBody>
      </p:sp>
      <p:sp>
        <p:nvSpPr>
          <p:cNvPr id="13" name="Text 11"/>
          <p:cNvSpPr txBox="1"/>
          <p:nvPr/>
        </p:nvSpPr>
        <p:spPr>
          <a:xfrm>
            <a:off x="5852160" y="2843784"/>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Text 12"/>
          <p:cNvSpPr txBox="1"/>
          <p:nvPr/>
        </p:nvSpPr>
        <p:spPr>
          <a:xfrm>
            <a:off x="6309360" y="2825496"/>
            <a:ext cx="3246120" cy="347472"/>
          </a:xfrm>
          <a:prstGeom prst="rect">
            <a:avLst/>
          </a:prstGeom>
          <a:noFill/>
          <a:ln/>
        </p:spPr>
        <p:txBody>
          <a:bodyPr wrap="square" lIns="0" tIns="0" rIns="0" bIns="0" rtlCol="0" anchor="ctr"/>
          <a:lstStyle/>
          <a:p>
            <a:pPr indent="0" marL="0">
              <a:buNone/>
            </a:pPr>
            <a:r>
              <a:rPr lang="en-US" sz="1350" dirty="0">
                <a:solidFill>
                  <a:schemeClr val="tx1"/>
                </a:solidFill>
              </a:rPr>
              <a:t>Exact solvers for four problem families</a:t>
            </a:r>
            <a:endParaRPr lang="en-US" sz="1350" dirty="0"/>
          </a:p>
        </p:txBody>
      </p:sp>
      <p:sp>
        <p:nvSpPr>
          <p:cNvPr id="15" name="Text 13"/>
          <p:cNvSpPr txBox="1"/>
          <p:nvPr/>
        </p:nvSpPr>
        <p:spPr>
          <a:xfrm>
            <a:off x="9646920" y="2852928"/>
            <a:ext cx="1965960" cy="292608"/>
          </a:xfrm>
          <a:prstGeom prst="roundRect">
            <a:avLst>
              <a:gd name="adj" fmla="val 31250"/>
            </a:avLst>
          </a:prstGeom>
          <a:solidFill>
            <a:srgbClr val="0F766E">
              <a:alpha val="15000"/>
            </a:srgbClr>
          </a:solidFill>
          <a:ln w="9525">
            <a:solidFill>
              <a:srgbClr val="0F766E"/>
            </a:solidFill>
          </a:ln>
        </p:spPr>
        <p:txBody>
          <a:bodyPr wrap="square" lIns="0" tIns="0" rIns="0" bIns="0" rtlCol="0" anchor="ctr"/>
          <a:lstStyle/>
          <a:p>
            <a:pPr algn="ctr" indent="0" marL="0">
              <a:buNone/>
            </a:pPr>
            <a:r>
              <a:rPr lang="en-US" sz="1000" b="1" dirty="0">
                <a:solidFill>
                  <a:srgbClr val="0F766E"/>
                </a:solidFill>
              </a:rPr>
              <a:t>Achieved + tested</a:t>
            </a:r>
            <a:endParaRPr lang="en-US" sz="1000" dirty="0"/>
          </a:p>
        </p:txBody>
      </p:sp>
      <p:sp>
        <p:nvSpPr>
          <p:cNvPr id="16" name="Text 14"/>
          <p:cNvSpPr txBox="1"/>
          <p:nvPr/>
        </p:nvSpPr>
        <p:spPr>
          <a:xfrm>
            <a:off x="5852160" y="3351276"/>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Text 15"/>
          <p:cNvSpPr txBox="1"/>
          <p:nvPr/>
        </p:nvSpPr>
        <p:spPr>
          <a:xfrm>
            <a:off x="6309360" y="3332988"/>
            <a:ext cx="3246120" cy="347472"/>
          </a:xfrm>
          <a:prstGeom prst="rect">
            <a:avLst/>
          </a:prstGeom>
          <a:noFill/>
          <a:ln/>
        </p:spPr>
        <p:txBody>
          <a:bodyPr wrap="square" lIns="0" tIns="0" rIns="0" bIns="0" rtlCol="0" anchor="ctr"/>
          <a:lstStyle/>
          <a:p>
            <a:pPr indent="0" marL="0">
              <a:buNone/>
            </a:pPr>
            <a:r>
              <a:rPr lang="en-US" sz="1350" dirty="0">
                <a:solidFill>
                  <a:schemeClr val="tx1"/>
                </a:solidFill>
              </a:rPr>
              <a:t>Step-level diagnosis of student working</a:t>
            </a:r>
            <a:endParaRPr lang="en-US" sz="1350" dirty="0"/>
          </a:p>
        </p:txBody>
      </p:sp>
      <p:sp>
        <p:nvSpPr>
          <p:cNvPr id="18" name="Text 16"/>
          <p:cNvSpPr txBox="1"/>
          <p:nvPr/>
        </p:nvSpPr>
        <p:spPr>
          <a:xfrm>
            <a:off x="9646920" y="3360420"/>
            <a:ext cx="1965960" cy="292608"/>
          </a:xfrm>
          <a:prstGeom prst="roundRect">
            <a:avLst>
              <a:gd name="adj" fmla="val 31250"/>
            </a:avLst>
          </a:prstGeom>
          <a:solidFill>
            <a:srgbClr val="0F766E">
              <a:alpha val="15000"/>
            </a:srgbClr>
          </a:solidFill>
          <a:ln w="9525">
            <a:solidFill>
              <a:srgbClr val="0F766E"/>
            </a:solidFill>
          </a:ln>
        </p:spPr>
        <p:txBody>
          <a:bodyPr wrap="square" lIns="0" tIns="0" rIns="0" bIns="0" rtlCol="0" anchor="ctr"/>
          <a:lstStyle/>
          <a:p>
            <a:pPr algn="ctr" indent="0" marL="0">
              <a:buNone/>
            </a:pPr>
            <a:r>
              <a:rPr lang="en-US" sz="1000" b="1" dirty="0">
                <a:solidFill>
                  <a:srgbClr val="0F766E"/>
                </a:solidFill>
              </a:rPr>
              <a:t>Achieved + tested</a:t>
            </a:r>
            <a:endParaRPr lang="en-US" sz="1000" dirty="0"/>
          </a:p>
        </p:txBody>
      </p:sp>
      <p:sp>
        <p:nvSpPr>
          <p:cNvPr id="19" name="Text 17"/>
          <p:cNvSpPr txBox="1"/>
          <p:nvPr/>
        </p:nvSpPr>
        <p:spPr>
          <a:xfrm>
            <a:off x="5852160" y="3858768"/>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 name="Text 18"/>
          <p:cNvSpPr txBox="1"/>
          <p:nvPr/>
        </p:nvSpPr>
        <p:spPr>
          <a:xfrm>
            <a:off x="6309360" y="3840480"/>
            <a:ext cx="3246120" cy="347472"/>
          </a:xfrm>
          <a:prstGeom prst="rect">
            <a:avLst/>
          </a:prstGeom>
          <a:noFill/>
          <a:ln/>
        </p:spPr>
        <p:txBody>
          <a:bodyPr wrap="square" lIns="0" tIns="0" rIns="0" bIns="0" rtlCol="0" anchor="ctr"/>
          <a:lstStyle/>
          <a:p>
            <a:pPr indent="0" marL="0">
              <a:buNone/>
            </a:pPr>
            <a:r>
              <a:rPr lang="en-US" sz="1350" dirty="0">
                <a:solidFill>
                  <a:schemeClr val="tx1"/>
                </a:solidFill>
              </a:rPr>
              <a:t>Interactive algorithm execution (OS Lab)</a:t>
            </a:r>
            <a:endParaRPr lang="en-US" sz="1350" dirty="0"/>
          </a:p>
        </p:txBody>
      </p:sp>
      <p:sp>
        <p:nvSpPr>
          <p:cNvPr id="21" name="Text 19"/>
          <p:cNvSpPr txBox="1"/>
          <p:nvPr/>
        </p:nvSpPr>
        <p:spPr>
          <a:xfrm>
            <a:off x="9646920" y="3867912"/>
            <a:ext cx="1965960" cy="292608"/>
          </a:xfrm>
          <a:prstGeom prst="roundRect">
            <a:avLst>
              <a:gd name="adj" fmla="val 31250"/>
            </a:avLst>
          </a:prstGeom>
          <a:solidFill>
            <a:srgbClr val="0F766E">
              <a:alpha val="15000"/>
            </a:srgbClr>
          </a:solidFill>
          <a:ln w="9525">
            <a:solidFill>
              <a:srgbClr val="0F766E"/>
            </a:solidFill>
          </a:ln>
        </p:spPr>
        <p:txBody>
          <a:bodyPr wrap="square" lIns="0" tIns="0" rIns="0" bIns="0" rtlCol="0" anchor="ctr"/>
          <a:lstStyle/>
          <a:p>
            <a:pPr algn="ctr" indent="0" marL="0">
              <a:buNone/>
            </a:pPr>
            <a:r>
              <a:rPr lang="en-US" sz="1000" b="1" dirty="0">
                <a:solidFill>
                  <a:srgbClr val="0F766E"/>
                </a:solidFill>
              </a:rPr>
              <a:t>Achieved + tested</a:t>
            </a:r>
            <a:endParaRPr lang="en-US" sz="1000" dirty="0"/>
          </a:p>
        </p:txBody>
      </p:sp>
      <p:sp>
        <p:nvSpPr>
          <p:cNvPr id="22" name="Text 20"/>
          <p:cNvSpPr txBox="1"/>
          <p:nvPr/>
        </p:nvSpPr>
        <p:spPr>
          <a:xfrm>
            <a:off x="5852160" y="4366260"/>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3" name="Text 21"/>
          <p:cNvSpPr txBox="1"/>
          <p:nvPr/>
        </p:nvSpPr>
        <p:spPr>
          <a:xfrm>
            <a:off x="6309360" y="4347972"/>
            <a:ext cx="3246120" cy="347472"/>
          </a:xfrm>
          <a:prstGeom prst="rect">
            <a:avLst/>
          </a:prstGeom>
          <a:noFill/>
          <a:ln/>
        </p:spPr>
        <p:txBody>
          <a:bodyPr wrap="square" lIns="0" tIns="0" rIns="0" bIns="0" rtlCol="0" anchor="ctr"/>
          <a:lstStyle/>
          <a:p>
            <a:pPr indent="0" marL="0">
              <a:buNone/>
            </a:pPr>
            <a:r>
              <a:rPr lang="en-US" sz="1350" dirty="0">
                <a:solidFill>
                  <a:schemeClr val="tx1"/>
                </a:solidFill>
              </a:rPr>
              <a:t>Misconception tracking, targeted practice</a:t>
            </a:r>
            <a:endParaRPr lang="en-US" sz="1350" dirty="0"/>
          </a:p>
        </p:txBody>
      </p:sp>
      <p:sp>
        <p:nvSpPr>
          <p:cNvPr id="24" name="Text 22"/>
          <p:cNvSpPr txBox="1"/>
          <p:nvPr/>
        </p:nvSpPr>
        <p:spPr>
          <a:xfrm>
            <a:off x="9646920" y="4375404"/>
            <a:ext cx="1965960" cy="292608"/>
          </a:xfrm>
          <a:prstGeom prst="roundRect">
            <a:avLst>
              <a:gd name="adj" fmla="val 31250"/>
            </a:avLst>
          </a:prstGeom>
          <a:solidFill>
            <a:srgbClr val="B45309">
              <a:alpha val="15000"/>
            </a:srgbClr>
          </a:solidFill>
          <a:ln w="9525">
            <a:solidFill>
              <a:srgbClr val="B45309"/>
            </a:solidFill>
          </a:ln>
        </p:spPr>
        <p:txBody>
          <a:bodyPr wrap="square" lIns="0" tIns="0" rIns="0" bIns="0" rtlCol="0" anchor="ctr"/>
          <a:lstStyle/>
          <a:p>
            <a:pPr algn="ctr" indent="0" marL="0">
              <a:buNone/>
            </a:pPr>
            <a:r>
              <a:rPr lang="en-US" sz="1000" b="1" dirty="0">
                <a:solidFill>
                  <a:srgbClr val="B45309"/>
                </a:solidFill>
              </a:rPr>
              <a:t>Rules not validated</a:t>
            </a:r>
            <a:endParaRPr lang="en-US" sz="1000" dirty="0"/>
          </a:p>
        </p:txBody>
      </p:sp>
      <p:sp>
        <p:nvSpPr>
          <p:cNvPr id="25" name="Text 23"/>
          <p:cNvSpPr txBox="1"/>
          <p:nvPr/>
        </p:nvSpPr>
        <p:spPr>
          <a:xfrm>
            <a:off x="5852160" y="4873752"/>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26" name="Text 24"/>
          <p:cNvSpPr txBox="1"/>
          <p:nvPr/>
        </p:nvSpPr>
        <p:spPr>
          <a:xfrm>
            <a:off x="6309360" y="4855464"/>
            <a:ext cx="3246120" cy="347472"/>
          </a:xfrm>
          <a:prstGeom prst="rect">
            <a:avLst/>
          </a:prstGeom>
          <a:noFill/>
          <a:ln/>
        </p:spPr>
        <p:txBody>
          <a:bodyPr wrap="square" lIns="0" tIns="0" rIns="0" bIns="0" rtlCol="0" anchor="ctr"/>
          <a:lstStyle/>
          <a:p>
            <a:pPr indent="0" marL="0">
              <a:buNone/>
            </a:pPr>
            <a:r>
              <a:rPr lang="en-US" sz="1350" dirty="0">
                <a:solidFill>
                  <a:schemeClr val="tx1"/>
                </a:solidFill>
              </a:rPr>
              <a:t>Quiz, viva and adaptive difficulty</a:t>
            </a:r>
            <a:endParaRPr lang="en-US" sz="1350" dirty="0"/>
          </a:p>
        </p:txBody>
      </p:sp>
      <p:sp>
        <p:nvSpPr>
          <p:cNvPr id="27" name="Text 25"/>
          <p:cNvSpPr txBox="1"/>
          <p:nvPr/>
        </p:nvSpPr>
        <p:spPr>
          <a:xfrm>
            <a:off x="9646920" y="4882896"/>
            <a:ext cx="1965960" cy="292608"/>
          </a:xfrm>
          <a:prstGeom prst="roundRect">
            <a:avLst>
              <a:gd name="adj" fmla="val 31250"/>
            </a:avLst>
          </a:prstGeom>
          <a:solidFill>
            <a:srgbClr val="B45309">
              <a:alpha val="15000"/>
            </a:srgbClr>
          </a:solidFill>
          <a:ln w="9525">
            <a:solidFill>
              <a:srgbClr val="B45309"/>
            </a:solidFill>
          </a:ln>
        </p:spPr>
        <p:txBody>
          <a:bodyPr wrap="square" lIns="0" tIns="0" rIns="0" bIns="0" rtlCol="0" anchor="ctr"/>
          <a:lstStyle/>
          <a:p>
            <a:pPr algn="ctr" indent="0" marL="0">
              <a:buNone/>
            </a:pPr>
            <a:r>
              <a:rPr lang="en-US" sz="1000" b="1" dirty="0">
                <a:solidFill>
                  <a:srgbClr val="B45309"/>
                </a:solidFill>
              </a:rPr>
              <a:t>LLM output not evaluated</a:t>
            </a:r>
            <a:endParaRPr lang="en-US" sz="1000" dirty="0"/>
          </a:p>
        </p:txBody>
      </p:sp>
      <p:sp>
        <p:nvSpPr>
          <p:cNvPr id="28" name="Text 26"/>
          <p:cNvSpPr txBox="1"/>
          <p:nvPr/>
        </p:nvSpPr>
        <p:spPr>
          <a:xfrm>
            <a:off x="5852160" y="5381244"/>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29" name="Text 27"/>
          <p:cNvSpPr txBox="1"/>
          <p:nvPr/>
        </p:nvSpPr>
        <p:spPr>
          <a:xfrm>
            <a:off x="6309360" y="5362956"/>
            <a:ext cx="3246120" cy="347472"/>
          </a:xfrm>
          <a:prstGeom prst="rect">
            <a:avLst/>
          </a:prstGeom>
          <a:noFill/>
          <a:ln/>
        </p:spPr>
        <p:txBody>
          <a:bodyPr wrap="square" lIns="0" tIns="0" rIns="0" bIns="0" rtlCol="0" anchor="ctr"/>
          <a:lstStyle/>
          <a:p>
            <a:pPr indent="0" marL="0">
              <a:buNone/>
            </a:pPr>
            <a:r>
              <a:rPr lang="en-US" sz="1350" dirty="0">
                <a:solidFill>
                  <a:schemeClr val="tx1"/>
                </a:solidFill>
              </a:rPr>
              <a:t>Retrieval evaluation and automated tests</a:t>
            </a:r>
            <a:endParaRPr lang="en-US" sz="1350" dirty="0"/>
          </a:p>
        </p:txBody>
      </p:sp>
      <p:sp>
        <p:nvSpPr>
          <p:cNvPr id="30" name="Text 28"/>
          <p:cNvSpPr txBox="1"/>
          <p:nvPr/>
        </p:nvSpPr>
        <p:spPr>
          <a:xfrm>
            <a:off x="9646920" y="5390388"/>
            <a:ext cx="1965960" cy="292608"/>
          </a:xfrm>
          <a:prstGeom prst="roundRect">
            <a:avLst>
              <a:gd name="adj" fmla="val 31250"/>
            </a:avLst>
          </a:prstGeom>
          <a:solidFill>
            <a:srgbClr val="0F766E">
              <a:alpha val="15000"/>
            </a:srgbClr>
          </a:solidFill>
          <a:ln w="9525">
            <a:solidFill>
              <a:srgbClr val="0F766E"/>
            </a:solidFill>
          </a:ln>
        </p:spPr>
        <p:txBody>
          <a:bodyPr wrap="square" lIns="0" tIns="0" rIns="0" bIns="0" rtlCol="0" anchor="ctr"/>
          <a:lstStyle/>
          <a:p>
            <a:pPr algn="ctr" indent="0" marL="0">
              <a:buNone/>
            </a:pPr>
            <a:r>
              <a:rPr lang="en-US" sz="1000" b="1" dirty="0">
                <a:solidFill>
                  <a:srgbClr val="0F766E"/>
                </a:solidFill>
              </a:rPr>
              <a:t>Achieved</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Methodology: two paths, one interface</a:t>
            </a:r>
            <a:endParaRPr lang="en-US" sz="2800" dirty="0"/>
          </a:p>
        </p:txBody>
      </p:sp>
      <p:sp>
        <p:nvSpPr>
          <p:cNvPr id="3" name="UI"/>
          <p:cNvSpPr txBox="1"/>
          <p:nvPr/>
        </p:nvSpPr>
        <p:spPr>
          <a:xfrm>
            <a:off x="4343400" y="1234440"/>
            <a:ext cx="3474720" cy="548640"/>
          </a:xfrm>
          <a:prstGeom prst="roundRect">
            <a:avLst>
              <a:gd name="adj" fmla="val 13333"/>
            </a:avLst>
          </a:prstGeom>
          <a:solidFill>
            <a:srgbClr val="1E3A5F">
              <a:alpha val="10000"/>
            </a:srgbClr>
          </a:solidFill>
          <a:ln w="15875">
            <a:solidFill>
              <a:srgbClr val="1E3A5F"/>
            </a:solidFill>
          </a:ln>
        </p:spPr>
        <p:txBody>
          <a:bodyPr wrap="square" lIns="50800" tIns="50800" rIns="50800" bIns="50800" rtlCol="0" anchor="ctr"/>
          <a:lstStyle/>
          <a:p>
            <a:pPr algn="ctr" indent="0" marL="0">
              <a:buNone/>
            </a:pPr>
            <a:r>
              <a:rPr lang="en-US" sz="1250" b="1" dirty="0">
                <a:solidFill>
                  <a:srgbClr val="1E3A5F"/>
                </a:solidFill>
              </a:rPr>
              <a:t>Streamlit interface</a:t>
            </a:r>
            <a:endParaRPr lang="en-US" sz="1250" dirty="0"/>
          </a:p>
          <a:p>
            <a:pPr algn="ctr" indent="0" marL="0">
              <a:buNone/>
            </a:pPr>
            <a:r>
              <a:rPr lang="en-US" sz="1050" dirty="0">
                <a:solidFill>
                  <a:schemeClr val="tx1"/>
                </a:solidFill>
              </a:rPr>
              <a:t>Chat · Solver · Check my working · OS Lab · Quiz · Map</a:t>
            </a:r>
            <a:endParaRPr lang="en-US" sz="1250" dirty="0"/>
          </a:p>
        </p:txBody>
      </p:sp>
      <p:sp>
        <p:nvSpPr>
          <p:cNvPr id="4" name="Detector"/>
          <p:cNvSpPr txBox="1"/>
          <p:nvPr/>
        </p:nvSpPr>
        <p:spPr>
          <a:xfrm>
            <a:off x="4343400" y="1965960"/>
            <a:ext cx="3474720" cy="457200"/>
          </a:xfrm>
          <a:prstGeom prst="roundRect">
            <a:avLst>
              <a:gd name="adj" fmla="val 16000"/>
            </a:avLst>
          </a:prstGeom>
          <a:solidFill>
            <a:srgbClr val="1E3A5F">
              <a:alpha val="10000"/>
            </a:srgbClr>
          </a:solidFill>
          <a:ln w="15875">
            <a:solidFill>
              <a:srgbClr val="1E3A5F"/>
            </a:solidFill>
          </a:ln>
        </p:spPr>
        <p:txBody>
          <a:bodyPr wrap="square" lIns="50800" tIns="50800" rIns="50800" bIns="50800" rtlCol="0" anchor="ctr"/>
          <a:lstStyle/>
          <a:p>
            <a:pPr algn="ctr" indent="0" marL="0">
              <a:buNone/>
            </a:pPr>
            <a:r>
              <a:rPr lang="en-US" sz="1250" b="1" dirty="0">
                <a:solidFill>
                  <a:srgbClr val="1E3A5F"/>
                </a:solidFill>
              </a:rPr>
              <a:t>Numerical problem detector</a:t>
            </a:r>
            <a:endParaRPr lang="en-US" sz="1250" dirty="0"/>
          </a:p>
        </p:txBody>
      </p:sp>
      <p:sp>
        <p:nvSpPr>
          <p:cNvPr id="5" name="Shape 3"/>
          <p:cNvSpPr/>
          <p:nvPr/>
        </p:nvSpPr>
        <p:spPr>
          <a:xfrm>
            <a:off x="6080760" y="1783080"/>
            <a:ext cx="0" cy="182880"/>
          </a:xfrm>
          <a:prstGeom prst="line">
            <a:avLst/>
          </a:prstGeom>
          <a:noFill/>
          <a:ln w="15875">
            <a:solidFill>
              <a:srgbClr val="64748B"/>
            </a:solidFill>
            <a:prstDash val="solid"/>
            <a:tailEnd type="triangle"/>
          </a:ln>
        </p:spPr>
      </p:sp>
      <p:sp>
        <p:nvSpPr>
          <p:cNvPr id="6" name="Shape 4"/>
          <p:cNvSpPr/>
          <p:nvPr/>
        </p:nvSpPr>
        <p:spPr>
          <a:xfrm>
            <a:off x="6080760" y="2423160"/>
            <a:ext cx="0" cy="210312"/>
          </a:xfrm>
          <a:prstGeom prst="line">
            <a:avLst/>
          </a:prstGeom>
          <a:noFill/>
          <a:ln w="15875">
            <a:solidFill>
              <a:srgbClr val="64748B"/>
            </a:solidFill>
            <a:prstDash val="solid"/>
          </a:ln>
        </p:spPr>
      </p:sp>
      <p:sp>
        <p:nvSpPr>
          <p:cNvPr id="7" name="Shape 5"/>
          <p:cNvSpPr/>
          <p:nvPr/>
        </p:nvSpPr>
        <p:spPr>
          <a:xfrm>
            <a:off x="2194560" y="2633472"/>
            <a:ext cx="7772400" cy="0"/>
          </a:xfrm>
          <a:prstGeom prst="line">
            <a:avLst/>
          </a:prstGeom>
          <a:noFill/>
          <a:ln w="15875">
            <a:solidFill>
              <a:srgbClr val="64748B"/>
            </a:solidFill>
            <a:prstDash val="solid"/>
          </a:ln>
        </p:spPr>
      </p:sp>
      <p:sp>
        <p:nvSpPr>
          <p:cNvPr id="8" name="Shape 6"/>
          <p:cNvSpPr/>
          <p:nvPr/>
        </p:nvSpPr>
        <p:spPr>
          <a:xfrm>
            <a:off x="2194560" y="2633472"/>
            <a:ext cx="0" cy="292608"/>
          </a:xfrm>
          <a:prstGeom prst="line">
            <a:avLst/>
          </a:prstGeom>
          <a:noFill/>
          <a:ln w="15875">
            <a:solidFill>
              <a:srgbClr val="64748B"/>
            </a:solidFill>
            <a:prstDash val="solid"/>
            <a:tailEnd type="triangle"/>
          </a:ln>
        </p:spPr>
      </p:sp>
      <p:sp>
        <p:nvSpPr>
          <p:cNvPr id="9" name="Shape 7"/>
          <p:cNvSpPr/>
          <p:nvPr/>
        </p:nvSpPr>
        <p:spPr>
          <a:xfrm>
            <a:off x="9966960" y="2633472"/>
            <a:ext cx="0" cy="292608"/>
          </a:xfrm>
          <a:prstGeom prst="line">
            <a:avLst/>
          </a:prstGeom>
          <a:noFill/>
          <a:ln w="15875">
            <a:solidFill>
              <a:srgbClr val="64748B"/>
            </a:solidFill>
            <a:prstDash val="solid"/>
            <a:tailEnd type="triangle"/>
          </a:ln>
        </p:spPr>
      </p:sp>
      <p:sp>
        <p:nvSpPr>
          <p:cNvPr id="10" name="Text 8"/>
          <p:cNvSpPr txBox="1"/>
          <p:nvPr/>
        </p:nvSpPr>
        <p:spPr>
          <a:xfrm>
            <a:off x="548640" y="2240280"/>
            <a:ext cx="3291840" cy="320040"/>
          </a:xfrm>
          <a:prstGeom prst="rect">
            <a:avLst/>
          </a:prstGeom>
          <a:noFill/>
          <a:ln/>
        </p:spPr>
        <p:txBody>
          <a:bodyPr wrap="square" lIns="0" tIns="0" rIns="0" bIns="0" rtlCol="0" anchor="ctr"/>
          <a:lstStyle/>
          <a:p>
            <a:pPr indent="0" marL="0">
              <a:buNone/>
            </a:pPr>
            <a:r>
              <a:rPr lang="en-US" sz="1300" b="1" dirty="0">
                <a:solidFill>
                  <a:schemeClr val="accent1"/>
                </a:solidFill>
              </a:rPr>
              <a:t>RAG path: explanations</a:t>
            </a:r>
            <a:endParaRPr lang="en-US" sz="1300" dirty="0"/>
          </a:p>
        </p:txBody>
      </p:sp>
      <p:sp>
        <p:nvSpPr>
          <p:cNvPr id="11" name="Text 9"/>
          <p:cNvSpPr txBox="1"/>
          <p:nvPr/>
        </p:nvSpPr>
        <p:spPr>
          <a:xfrm>
            <a:off x="8321040" y="2240280"/>
            <a:ext cx="3291840" cy="320040"/>
          </a:xfrm>
          <a:prstGeom prst="rect">
            <a:avLst/>
          </a:prstGeom>
          <a:noFill/>
          <a:ln/>
        </p:spPr>
        <p:txBody>
          <a:bodyPr wrap="square" lIns="0" tIns="0" rIns="0" bIns="0" rtlCol="0" anchor="ctr"/>
          <a:lstStyle/>
          <a:p>
            <a:pPr algn="r" indent="0" marL="0">
              <a:buNone/>
            </a:pPr>
            <a:r>
              <a:rPr lang="en-US" sz="1300" b="1" dirty="0">
                <a:solidFill>
                  <a:schemeClr val="accent2"/>
                </a:solidFill>
              </a:rPr>
              <a:t>Deterministic path: exact numbers</a:t>
            </a:r>
            <a:endParaRPr lang="en-US" sz="1300" dirty="0"/>
          </a:p>
        </p:txBody>
      </p:sp>
      <p:sp>
        <p:nvSpPr>
          <p:cNvPr id="12" name="Intent"/>
          <p:cNvSpPr txBox="1"/>
          <p:nvPr/>
        </p:nvSpPr>
        <p:spPr>
          <a:xfrm>
            <a:off x="548640" y="2926080"/>
            <a:ext cx="3291840" cy="502920"/>
          </a:xfrm>
          <a:prstGeom prst="roundRect">
            <a:avLst>
              <a:gd name="adj" fmla="val 14545"/>
            </a:avLst>
          </a:prstGeom>
          <a:solidFill>
            <a:srgbClr val="0F766E">
              <a:alpha val="10000"/>
            </a:srgbClr>
          </a:solidFill>
          <a:ln w="15875">
            <a:solidFill>
              <a:srgbClr val="0F766E"/>
            </a:solidFill>
          </a:ln>
        </p:spPr>
        <p:txBody>
          <a:bodyPr wrap="square" lIns="50800" tIns="50800" rIns="50800" bIns="50800" rtlCol="0" anchor="ctr"/>
          <a:lstStyle/>
          <a:p>
            <a:pPr algn="ctr" indent="0" marL="0">
              <a:buNone/>
            </a:pPr>
            <a:r>
              <a:rPr lang="en-US" sz="1250" b="1" dirty="0">
                <a:solidFill>
                  <a:srgbClr val="0F766E"/>
                </a:solidFill>
              </a:rPr>
              <a:t>Intent + query</a:t>
            </a:r>
            <a:endParaRPr lang="en-US" sz="1250" dirty="0"/>
          </a:p>
          <a:p>
            <a:pPr algn="ctr" indent="0" marL="0">
              <a:buNone/>
            </a:pPr>
            <a:r>
              <a:rPr lang="en-US" sz="1050" dirty="0">
                <a:solidFill>
                  <a:schemeClr val="tx1"/>
                </a:solidFill>
              </a:rPr>
              <a:t>follow-ups carry the previous question</a:t>
            </a:r>
            <a:endParaRPr lang="en-US" sz="1250" dirty="0"/>
          </a:p>
        </p:txBody>
      </p:sp>
      <p:sp>
        <p:nvSpPr>
          <p:cNvPr id="13" name="BM25"/>
          <p:cNvSpPr txBox="1"/>
          <p:nvPr/>
        </p:nvSpPr>
        <p:spPr>
          <a:xfrm>
            <a:off x="548640" y="3611880"/>
            <a:ext cx="1554480" cy="502920"/>
          </a:xfrm>
          <a:prstGeom prst="roundRect">
            <a:avLst>
              <a:gd name="adj" fmla="val 14545"/>
            </a:avLst>
          </a:prstGeom>
          <a:solidFill>
            <a:srgbClr val="0F766E">
              <a:alpha val="10000"/>
            </a:srgbClr>
          </a:solidFill>
          <a:ln w="15875">
            <a:solidFill>
              <a:srgbClr val="0F766E"/>
            </a:solidFill>
          </a:ln>
        </p:spPr>
        <p:txBody>
          <a:bodyPr wrap="square" lIns="50800" tIns="50800" rIns="50800" bIns="50800" rtlCol="0" anchor="ctr"/>
          <a:lstStyle/>
          <a:p>
            <a:pPr algn="ctr" indent="0" marL="0">
              <a:buNone/>
            </a:pPr>
            <a:r>
              <a:rPr lang="en-US" sz="1250" b="1" dirty="0">
                <a:solidFill>
                  <a:srgbClr val="0F766E"/>
                </a:solidFill>
              </a:rPr>
              <a:t>BM25</a:t>
            </a:r>
            <a:endParaRPr lang="en-US" sz="1250" dirty="0"/>
          </a:p>
          <a:p>
            <a:pPr algn="ctr" indent="0" marL="0">
              <a:buNone/>
            </a:pPr>
            <a:r>
              <a:rPr lang="en-US" sz="1050" dirty="0">
                <a:solidFill>
                  <a:schemeClr val="tx1"/>
                </a:solidFill>
              </a:rPr>
              <a:t>keywords</a:t>
            </a:r>
            <a:endParaRPr lang="en-US" sz="1250" dirty="0"/>
          </a:p>
        </p:txBody>
      </p:sp>
      <p:sp>
        <p:nvSpPr>
          <p:cNvPr id="14" name="BGE"/>
          <p:cNvSpPr txBox="1"/>
          <p:nvPr/>
        </p:nvSpPr>
        <p:spPr>
          <a:xfrm>
            <a:off x="2286000" y="3611880"/>
            <a:ext cx="1554480" cy="502920"/>
          </a:xfrm>
          <a:prstGeom prst="roundRect">
            <a:avLst>
              <a:gd name="adj" fmla="val 14545"/>
            </a:avLst>
          </a:prstGeom>
          <a:solidFill>
            <a:srgbClr val="0F766E">
              <a:alpha val="10000"/>
            </a:srgbClr>
          </a:solidFill>
          <a:ln w="15875">
            <a:solidFill>
              <a:srgbClr val="0F766E"/>
            </a:solidFill>
          </a:ln>
        </p:spPr>
        <p:txBody>
          <a:bodyPr wrap="square" lIns="50800" tIns="50800" rIns="50800" bIns="50800" rtlCol="0" anchor="ctr"/>
          <a:lstStyle/>
          <a:p>
            <a:pPr algn="ctr" indent="0" marL="0">
              <a:buNone/>
            </a:pPr>
            <a:r>
              <a:rPr lang="en-US" sz="1250" b="1" dirty="0">
                <a:solidFill>
                  <a:srgbClr val="0F766E"/>
                </a:solidFill>
              </a:rPr>
              <a:t>BGE embeddings</a:t>
            </a:r>
            <a:endParaRPr lang="en-US" sz="1250" dirty="0"/>
          </a:p>
          <a:p>
            <a:pPr algn="ctr" indent="0" marL="0">
              <a:buNone/>
            </a:pPr>
            <a:r>
              <a:rPr lang="en-US" sz="1050" dirty="0">
                <a:solidFill>
                  <a:schemeClr val="tx1"/>
                </a:solidFill>
              </a:rPr>
              <a:t>ChromaDB</a:t>
            </a:r>
            <a:endParaRPr lang="en-US" sz="1250" dirty="0"/>
          </a:p>
        </p:txBody>
      </p:sp>
      <p:sp>
        <p:nvSpPr>
          <p:cNvPr id="15" name="RRF"/>
          <p:cNvSpPr txBox="1"/>
          <p:nvPr/>
        </p:nvSpPr>
        <p:spPr>
          <a:xfrm>
            <a:off x="548640" y="4297680"/>
            <a:ext cx="3291840" cy="502920"/>
          </a:xfrm>
          <a:prstGeom prst="roundRect">
            <a:avLst>
              <a:gd name="adj" fmla="val 14545"/>
            </a:avLst>
          </a:prstGeom>
          <a:solidFill>
            <a:srgbClr val="0F766E">
              <a:alpha val="10000"/>
            </a:srgbClr>
          </a:solidFill>
          <a:ln w="15875">
            <a:solidFill>
              <a:srgbClr val="0F766E"/>
            </a:solidFill>
          </a:ln>
        </p:spPr>
        <p:txBody>
          <a:bodyPr wrap="square" lIns="50800" tIns="50800" rIns="50800" bIns="50800" rtlCol="0" anchor="ctr"/>
          <a:lstStyle/>
          <a:p>
            <a:pPr algn="ctr" indent="0" marL="0">
              <a:buNone/>
            </a:pPr>
            <a:r>
              <a:rPr lang="en-US" sz="1250" b="1" dirty="0">
                <a:solidFill>
                  <a:srgbClr val="0F766E"/>
                </a:solidFill>
              </a:rPr>
              <a:t>Weighted rank fusion</a:t>
            </a:r>
            <a:endParaRPr lang="en-US" sz="1250" dirty="0"/>
          </a:p>
          <a:p>
            <a:pPr algn="ctr" indent="0" marL="0">
              <a:buNone/>
            </a:pPr>
            <a:r>
              <a:rPr lang="en-US" sz="1050" dirty="0">
                <a:solidFill>
                  <a:schemeClr val="tx1"/>
                </a:solidFill>
              </a:rPr>
              <a:t>k = 60, teacher ×1.05, back matter ×0.5</a:t>
            </a:r>
            <a:endParaRPr lang="en-US" sz="1250" dirty="0"/>
          </a:p>
        </p:txBody>
      </p:sp>
      <p:sp>
        <p:nvSpPr>
          <p:cNvPr id="16" name="Top6"/>
          <p:cNvSpPr txBox="1"/>
          <p:nvPr/>
        </p:nvSpPr>
        <p:spPr>
          <a:xfrm>
            <a:off x="548640" y="4983480"/>
            <a:ext cx="3291840" cy="502920"/>
          </a:xfrm>
          <a:prstGeom prst="roundRect">
            <a:avLst>
              <a:gd name="adj" fmla="val 14545"/>
            </a:avLst>
          </a:prstGeom>
          <a:solidFill>
            <a:srgbClr val="0F766E">
              <a:alpha val="10000"/>
            </a:srgbClr>
          </a:solidFill>
          <a:ln w="15875">
            <a:solidFill>
              <a:srgbClr val="0F766E"/>
            </a:solidFill>
          </a:ln>
        </p:spPr>
        <p:txBody>
          <a:bodyPr wrap="square" lIns="50800" tIns="50800" rIns="50800" bIns="50800" rtlCol="0" anchor="ctr"/>
          <a:lstStyle/>
          <a:p>
            <a:pPr algn="ctr" indent="0" marL="0">
              <a:buNone/>
            </a:pPr>
            <a:r>
              <a:rPr lang="en-US" sz="1250" b="1" dirty="0">
                <a:solidFill>
                  <a:srgbClr val="0F766E"/>
                </a:solidFill>
              </a:rPr>
              <a:t>Top 6 passages + figures</a:t>
            </a:r>
            <a:endParaRPr lang="en-US" sz="1250" dirty="0"/>
          </a:p>
          <a:p>
            <a:pPr algn="ctr" indent="0" marL="0">
              <a:buNone/>
            </a:pPr>
            <a:r>
              <a:rPr lang="en-US" sz="1050" dirty="0">
                <a:solidFill>
                  <a:schemeClr val="tx1"/>
                </a:solidFill>
              </a:rPr>
              <a:t>tagged [S1]-[S6]</a:t>
            </a:r>
            <a:endParaRPr lang="en-US" sz="1250" dirty="0"/>
          </a:p>
        </p:txBody>
      </p:sp>
      <p:sp>
        <p:nvSpPr>
          <p:cNvPr id="17" name="Shape 15"/>
          <p:cNvSpPr/>
          <p:nvPr/>
        </p:nvSpPr>
        <p:spPr>
          <a:xfrm>
            <a:off x="1325880" y="3429000"/>
            <a:ext cx="0" cy="182880"/>
          </a:xfrm>
          <a:prstGeom prst="line">
            <a:avLst/>
          </a:prstGeom>
          <a:noFill/>
          <a:ln w="15875">
            <a:solidFill>
              <a:srgbClr val="64748B"/>
            </a:solidFill>
            <a:prstDash val="solid"/>
            <a:tailEnd type="triangle"/>
          </a:ln>
        </p:spPr>
      </p:sp>
      <p:sp>
        <p:nvSpPr>
          <p:cNvPr id="18" name="Shape 16"/>
          <p:cNvSpPr/>
          <p:nvPr/>
        </p:nvSpPr>
        <p:spPr>
          <a:xfrm>
            <a:off x="3063240" y="3429000"/>
            <a:ext cx="0" cy="182880"/>
          </a:xfrm>
          <a:prstGeom prst="line">
            <a:avLst/>
          </a:prstGeom>
          <a:noFill/>
          <a:ln w="15875">
            <a:solidFill>
              <a:srgbClr val="64748B"/>
            </a:solidFill>
            <a:prstDash val="solid"/>
            <a:tailEnd type="triangle"/>
          </a:ln>
        </p:spPr>
      </p:sp>
      <p:sp>
        <p:nvSpPr>
          <p:cNvPr id="19" name="Shape 17"/>
          <p:cNvSpPr/>
          <p:nvPr/>
        </p:nvSpPr>
        <p:spPr>
          <a:xfrm>
            <a:off x="1325880" y="4114800"/>
            <a:ext cx="0" cy="182880"/>
          </a:xfrm>
          <a:prstGeom prst="line">
            <a:avLst/>
          </a:prstGeom>
          <a:noFill/>
          <a:ln w="15875">
            <a:solidFill>
              <a:srgbClr val="64748B"/>
            </a:solidFill>
            <a:prstDash val="solid"/>
            <a:tailEnd type="triangle"/>
          </a:ln>
        </p:spPr>
      </p:sp>
      <p:sp>
        <p:nvSpPr>
          <p:cNvPr id="20" name="Shape 18"/>
          <p:cNvSpPr/>
          <p:nvPr/>
        </p:nvSpPr>
        <p:spPr>
          <a:xfrm>
            <a:off x="3063240" y="4114800"/>
            <a:ext cx="0" cy="182880"/>
          </a:xfrm>
          <a:prstGeom prst="line">
            <a:avLst/>
          </a:prstGeom>
          <a:noFill/>
          <a:ln w="15875">
            <a:solidFill>
              <a:srgbClr val="64748B"/>
            </a:solidFill>
            <a:prstDash val="solid"/>
            <a:tailEnd type="triangle"/>
          </a:ln>
        </p:spPr>
      </p:sp>
      <p:sp>
        <p:nvSpPr>
          <p:cNvPr id="21" name="Shape 19"/>
          <p:cNvSpPr/>
          <p:nvPr/>
        </p:nvSpPr>
        <p:spPr>
          <a:xfrm>
            <a:off x="2194560" y="4800600"/>
            <a:ext cx="0" cy="182880"/>
          </a:xfrm>
          <a:prstGeom prst="line">
            <a:avLst/>
          </a:prstGeom>
          <a:noFill/>
          <a:ln w="15875">
            <a:solidFill>
              <a:srgbClr val="64748B"/>
            </a:solidFill>
            <a:prstDash val="solid"/>
            <a:tailEnd type="triangle"/>
          </a:ln>
        </p:spPr>
      </p:sp>
      <p:sp>
        <p:nvSpPr>
          <p:cNvPr id="22" name="KB"/>
          <p:cNvSpPr txBox="1"/>
          <p:nvPr/>
        </p:nvSpPr>
        <p:spPr>
          <a:xfrm>
            <a:off x="4343400" y="3520440"/>
            <a:ext cx="3474720" cy="685800"/>
          </a:xfrm>
          <a:prstGeom prst="roundRect">
            <a:avLst>
              <a:gd name="adj" fmla="val 10667"/>
            </a:avLst>
          </a:prstGeom>
          <a:solidFill>
            <a:srgbClr val="64748B">
              <a:alpha val="10000"/>
            </a:srgbClr>
          </a:solidFill>
          <a:ln w="15875">
            <a:solidFill>
              <a:srgbClr val="64748B"/>
            </a:solidFill>
          </a:ln>
        </p:spPr>
        <p:txBody>
          <a:bodyPr wrap="square" lIns="50800" tIns="50800" rIns="50800" bIns="50800" rtlCol="0" anchor="ctr"/>
          <a:lstStyle/>
          <a:p>
            <a:pPr algn="ctr" indent="0" marL="0">
              <a:buNone/>
            </a:pPr>
            <a:r>
              <a:rPr lang="en-US" sz="1250" b="1" dirty="0">
                <a:solidFill>
                  <a:srgbClr val="64748B"/>
                </a:solidFill>
              </a:rPr>
              <a:t>Knowledge base</a:t>
            </a:r>
            <a:endParaRPr lang="en-US" sz="1250" dirty="0"/>
          </a:p>
          <a:p>
            <a:pPr algn="ctr" indent="0" marL="0">
              <a:buNone/>
            </a:pPr>
            <a:r>
              <a:rPr lang="en-US" sz="1050" dirty="0">
                <a:solidFill>
                  <a:schemeClr val="tx1"/>
                </a:solidFill>
              </a:rPr>
              <a:t>2,222 passages · 928 images</a:t>
            </a:r>
            <a:endParaRPr lang="en-US" sz="1250" dirty="0"/>
          </a:p>
          <a:p>
            <a:pPr algn="ctr" indent="0" marL="0">
              <a:buNone/>
            </a:pPr>
            <a:r>
              <a:rPr lang="en-US" sz="1050" dirty="0">
                <a:solidFill>
                  <a:schemeClr val="tx1"/>
                </a:solidFill>
              </a:rPr>
              <a:t>textbook · teacher slides · lab notes</a:t>
            </a:r>
            <a:endParaRPr lang="en-US" sz="1250" dirty="0"/>
          </a:p>
        </p:txBody>
      </p:sp>
      <p:sp>
        <p:nvSpPr>
          <p:cNvPr id="23" name="Shape 21"/>
          <p:cNvSpPr/>
          <p:nvPr/>
        </p:nvSpPr>
        <p:spPr>
          <a:xfrm flipH="1">
            <a:off x="3840480" y="3858768"/>
            <a:ext cx="502920" cy="0"/>
          </a:xfrm>
          <a:prstGeom prst="line">
            <a:avLst/>
          </a:prstGeom>
          <a:noFill/>
          <a:ln w="15875">
            <a:solidFill>
              <a:srgbClr val="64748B"/>
            </a:solidFill>
            <a:prstDash val="solid"/>
            <a:tailEnd type="triangle"/>
          </a:ln>
        </p:spPr>
      </p:sp>
      <p:sp>
        <p:nvSpPr>
          <p:cNvPr id="24" name="LLM"/>
          <p:cNvSpPr txBox="1"/>
          <p:nvPr/>
        </p:nvSpPr>
        <p:spPr>
          <a:xfrm>
            <a:off x="4343400" y="4892040"/>
            <a:ext cx="3474720" cy="685800"/>
          </a:xfrm>
          <a:prstGeom prst="roundRect">
            <a:avLst>
              <a:gd name="adj" fmla="val 10667"/>
            </a:avLst>
          </a:prstGeom>
          <a:solidFill>
            <a:srgbClr val="B45309">
              <a:alpha val="10000"/>
            </a:srgbClr>
          </a:solidFill>
          <a:ln w="15875">
            <a:solidFill>
              <a:srgbClr val="B45309"/>
            </a:solidFill>
          </a:ln>
        </p:spPr>
        <p:txBody>
          <a:bodyPr wrap="square" lIns="50800" tIns="50800" rIns="50800" bIns="50800" rtlCol="0" anchor="ctr"/>
          <a:lstStyle/>
          <a:p>
            <a:pPr algn="ctr" indent="0" marL="0">
              <a:buNone/>
            </a:pPr>
            <a:r>
              <a:rPr lang="en-US" sz="1250" b="1" dirty="0">
                <a:solidFill>
                  <a:srgbClr val="B45309"/>
                </a:solidFill>
              </a:rPr>
              <a:t>LLM: gpt-oss-120b (Groq)</a:t>
            </a:r>
            <a:endParaRPr lang="en-US" sz="1250" dirty="0"/>
          </a:p>
          <a:p>
            <a:pPr algn="ctr" indent="0" marL="0">
              <a:buNone/>
            </a:pPr>
            <a:r>
              <a:rPr lang="en-US" sz="1050" dirty="0">
                <a:solidFill>
                  <a:schemeClr val="tx1"/>
                </a:solidFill>
              </a:rPr>
              <a:t>grounded, cited answer; explains, never computes</a:t>
            </a:r>
            <a:endParaRPr lang="en-US" sz="1250" dirty="0"/>
          </a:p>
        </p:txBody>
      </p:sp>
      <p:sp>
        <p:nvSpPr>
          <p:cNvPr id="25" name="Shape 23"/>
          <p:cNvSpPr/>
          <p:nvPr/>
        </p:nvSpPr>
        <p:spPr>
          <a:xfrm>
            <a:off x="3840480" y="5234940"/>
            <a:ext cx="502920" cy="0"/>
          </a:xfrm>
          <a:prstGeom prst="line">
            <a:avLst/>
          </a:prstGeom>
          <a:noFill/>
          <a:ln w="15875">
            <a:solidFill>
              <a:srgbClr val="64748B"/>
            </a:solidFill>
            <a:prstDash val="solid"/>
            <a:tailEnd type="triangle"/>
          </a:ln>
        </p:spPr>
      </p:sp>
      <p:sp>
        <p:nvSpPr>
          <p:cNvPr id="26" name="Solvers"/>
          <p:cNvSpPr txBox="1"/>
          <p:nvPr/>
        </p:nvSpPr>
        <p:spPr>
          <a:xfrm>
            <a:off x="8321040" y="2926080"/>
            <a:ext cx="3291840" cy="502920"/>
          </a:xfrm>
          <a:prstGeom prst="roundRect">
            <a:avLst>
              <a:gd name="adj" fmla="val 14545"/>
            </a:avLst>
          </a:prstGeom>
          <a:solidFill>
            <a:srgbClr val="9F1239">
              <a:alpha val="10000"/>
            </a:srgbClr>
          </a:solidFill>
          <a:ln w="15875">
            <a:solidFill>
              <a:srgbClr val="9F1239"/>
            </a:solidFill>
          </a:ln>
        </p:spPr>
        <p:txBody>
          <a:bodyPr wrap="square" lIns="50800" tIns="50800" rIns="50800" bIns="50800" rtlCol="0" anchor="ctr"/>
          <a:lstStyle/>
          <a:p>
            <a:pPr algn="ctr" indent="0" marL="0">
              <a:buNone/>
            </a:pPr>
            <a:r>
              <a:rPr lang="en-US" sz="1250" b="1" dirty="0">
                <a:solidFill>
                  <a:srgbClr val="9F1239"/>
                </a:solidFill>
              </a:rPr>
              <a:t>Exact solvers</a:t>
            </a:r>
            <a:endParaRPr lang="en-US" sz="1250" dirty="0"/>
          </a:p>
          <a:p>
            <a:pPr algn="ctr" indent="0" marL="0">
              <a:buNone/>
            </a:pPr>
            <a:r>
              <a:rPr lang="en-US" sz="1050" dirty="0">
                <a:solidFill>
                  <a:schemeClr val="tx1"/>
                </a:solidFill>
              </a:rPr>
              <a:t>scheduling · Banker's · paging · disk</a:t>
            </a:r>
            <a:endParaRPr lang="en-US" sz="1250" dirty="0"/>
          </a:p>
        </p:txBody>
      </p:sp>
      <p:sp>
        <p:nvSpPr>
          <p:cNvPr id="27" name="Debugger"/>
          <p:cNvSpPr txBox="1"/>
          <p:nvPr/>
        </p:nvSpPr>
        <p:spPr>
          <a:xfrm>
            <a:off x="8321040" y="3611880"/>
            <a:ext cx="3291840" cy="502920"/>
          </a:xfrm>
          <a:prstGeom prst="roundRect">
            <a:avLst>
              <a:gd name="adj" fmla="val 14545"/>
            </a:avLst>
          </a:prstGeom>
          <a:solidFill>
            <a:srgbClr val="5B21B6">
              <a:alpha val="10000"/>
            </a:srgbClr>
          </a:solidFill>
          <a:ln w="15875">
            <a:solidFill>
              <a:srgbClr val="5B21B6"/>
            </a:solidFill>
          </a:ln>
        </p:spPr>
        <p:txBody>
          <a:bodyPr wrap="square" lIns="50800" tIns="50800" rIns="50800" bIns="50800" rtlCol="0" anchor="ctr"/>
          <a:lstStyle/>
          <a:p>
            <a:pPr algn="ctr" indent="0" marL="0">
              <a:buNone/>
            </a:pPr>
            <a:r>
              <a:rPr lang="en-US" sz="1250" b="1" dirty="0">
                <a:solidFill>
                  <a:srgbClr val="5B21B6"/>
                </a:solidFill>
              </a:rPr>
              <a:t>Debugger + OS Lab</a:t>
            </a:r>
            <a:endParaRPr lang="en-US" sz="1250" dirty="0"/>
          </a:p>
          <a:p>
            <a:pPr algn="ctr" indent="0" marL="0">
              <a:buNone/>
            </a:pPr>
            <a:r>
              <a:rPr lang="en-US" sz="1050" dirty="0">
                <a:solidFill>
                  <a:schemeClr val="tx1"/>
                </a:solidFill>
              </a:rPr>
              <a:t>compare working · replay decisions</a:t>
            </a:r>
            <a:endParaRPr lang="en-US" sz="1250" dirty="0"/>
          </a:p>
        </p:txBody>
      </p:sp>
      <p:sp>
        <p:nvSpPr>
          <p:cNvPr id="28" name="Map"/>
          <p:cNvSpPr txBox="1"/>
          <p:nvPr/>
        </p:nvSpPr>
        <p:spPr>
          <a:xfrm>
            <a:off x="8321040" y="4297680"/>
            <a:ext cx="3291840" cy="502920"/>
          </a:xfrm>
          <a:prstGeom prst="roundRect">
            <a:avLst>
              <a:gd name="adj" fmla="val 14545"/>
            </a:avLst>
          </a:prstGeom>
          <a:solidFill>
            <a:srgbClr val="5B21B6">
              <a:alpha val="10000"/>
            </a:srgbClr>
          </a:solidFill>
          <a:ln w="15875">
            <a:solidFill>
              <a:srgbClr val="5B21B6"/>
            </a:solidFill>
          </a:ln>
        </p:spPr>
        <p:txBody>
          <a:bodyPr wrap="square" lIns="50800" tIns="50800" rIns="50800" bIns="50800" rtlCol="0" anchor="ctr"/>
          <a:lstStyle/>
          <a:p>
            <a:pPr algn="ctr" indent="0" marL="0">
              <a:buNone/>
            </a:pPr>
            <a:r>
              <a:rPr lang="en-US" sz="1250" b="1" dirty="0">
                <a:solidFill>
                  <a:srgbClr val="5B21B6"/>
                </a:solidFill>
              </a:rPr>
              <a:t>Learning map</a:t>
            </a:r>
            <a:endParaRPr lang="en-US" sz="1250" dirty="0"/>
          </a:p>
          <a:p>
            <a:pPr algn="ctr" indent="0" marL="0">
              <a:buNone/>
            </a:pPr>
            <a:r>
              <a:rPr lang="en-US" sz="1050" dirty="0">
                <a:solidFill>
                  <a:schemeClr val="tx1"/>
                </a:solidFill>
              </a:rPr>
              <a:t>evidence rules · recommendations</a:t>
            </a:r>
            <a:endParaRPr lang="en-US" sz="1250" dirty="0"/>
          </a:p>
        </p:txBody>
      </p:sp>
      <p:sp>
        <p:nvSpPr>
          <p:cNvPr id="29" name="Progress"/>
          <p:cNvSpPr txBox="1"/>
          <p:nvPr/>
        </p:nvSpPr>
        <p:spPr>
          <a:xfrm>
            <a:off x="8321040" y="4983480"/>
            <a:ext cx="3291840" cy="502920"/>
          </a:xfrm>
          <a:prstGeom prst="roundRect">
            <a:avLst>
              <a:gd name="adj" fmla="val 14545"/>
            </a:avLst>
          </a:prstGeom>
          <a:solidFill>
            <a:srgbClr val="64748B">
              <a:alpha val="10000"/>
            </a:srgbClr>
          </a:solidFill>
          <a:ln w="15875">
            <a:solidFill>
              <a:srgbClr val="64748B"/>
            </a:solidFill>
          </a:ln>
        </p:spPr>
        <p:txBody>
          <a:bodyPr wrap="square" lIns="50800" tIns="50800" rIns="50800" bIns="50800" rtlCol="0" anchor="ctr"/>
          <a:lstStyle/>
          <a:p>
            <a:pPr algn="ctr" indent="0" marL="0">
              <a:buNone/>
            </a:pPr>
            <a:r>
              <a:rPr lang="en-US" sz="1250" b="1" dirty="0">
                <a:solidFill>
                  <a:srgbClr val="64748B"/>
                </a:solidFill>
              </a:rPr>
              <a:t>Progress file</a:t>
            </a:r>
            <a:endParaRPr lang="en-US" sz="1250" dirty="0"/>
          </a:p>
          <a:p>
            <a:pPr algn="ctr" indent="0" marL="0">
              <a:buNone/>
            </a:pPr>
            <a:r>
              <a:rPr lang="en-US" sz="1050" dirty="0">
                <a:solidFill>
                  <a:schemeClr val="tx1"/>
                </a:solidFill>
              </a:rPr>
              <a:t>quiz statistics + evidence (JSON)</a:t>
            </a:r>
            <a:endParaRPr lang="en-US" sz="1250" dirty="0"/>
          </a:p>
        </p:txBody>
      </p:sp>
      <p:sp>
        <p:nvSpPr>
          <p:cNvPr id="30" name="Shape 28"/>
          <p:cNvSpPr/>
          <p:nvPr/>
        </p:nvSpPr>
        <p:spPr>
          <a:xfrm>
            <a:off x="9966960" y="3429000"/>
            <a:ext cx="0" cy="182880"/>
          </a:xfrm>
          <a:prstGeom prst="line">
            <a:avLst/>
          </a:prstGeom>
          <a:noFill/>
          <a:ln w="15875">
            <a:solidFill>
              <a:srgbClr val="64748B"/>
            </a:solidFill>
            <a:prstDash val="solid"/>
            <a:tailEnd type="triangle"/>
          </a:ln>
        </p:spPr>
      </p:sp>
      <p:sp>
        <p:nvSpPr>
          <p:cNvPr id="31" name="Shape 29"/>
          <p:cNvSpPr/>
          <p:nvPr/>
        </p:nvSpPr>
        <p:spPr>
          <a:xfrm>
            <a:off x="9966960" y="4114800"/>
            <a:ext cx="0" cy="182880"/>
          </a:xfrm>
          <a:prstGeom prst="line">
            <a:avLst/>
          </a:prstGeom>
          <a:noFill/>
          <a:ln w="15875">
            <a:solidFill>
              <a:srgbClr val="64748B"/>
            </a:solidFill>
            <a:prstDash val="solid"/>
            <a:tailEnd type="triangle"/>
          </a:ln>
        </p:spPr>
      </p:sp>
      <p:sp>
        <p:nvSpPr>
          <p:cNvPr id="32" name="Shape 30"/>
          <p:cNvSpPr/>
          <p:nvPr/>
        </p:nvSpPr>
        <p:spPr>
          <a:xfrm>
            <a:off x="9966960" y="4800600"/>
            <a:ext cx="0" cy="182880"/>
          </a:xfrm>
          <a:prstGeom prst="line">
            <a:avLst/>
          </a:prstGeom>
          <a:noFill/>
          <a:ln w="15875">
            <a:solidFill>
              <a:srgbClr val="64748B"/>
            </a:solidFill>
            <a:prstDash val="solid"/>
            <a:tailEnd type="triangle"/>
          </a:ln>
        </p:spPr>
      </p:sp>
      <p:sp>
        <p:nvSpPr>
          <p:cNvPr id="33" name="Shape 31"/>
          <p:cNvSpPr/>
          <p:nvPr/>
        </p:nvSpPr>
        <p:spPr>
          <a:xfrm flipH="1">
            <a:off x="8074152" y="3177540"/>
            <a:ext cx="246888" cy="0"/>
          </a:xfrm>
          <a:prstGeom prst="line">
            <a:avLst/>
          </a:prstGeom>
          <a:noFill/>
          <a:ln w="15875">
            <a:solidFill>
              <a:srgbClr val="9F1239"/>
            </a:solidFill>
            <a:prstDash val="dash"/>
          </a:ln>
        </p:spPr>
      </p:sp>
      <p:sp>
        <p:nvSpPr>
          <p:cNvPr id="34" name="Shape 32"/>
          <p:cNvSpPr/>
          <p:nvPr/>
        </p:nvSpPr>
        <p:spPr>
          <a:xfrm>
            <a:off x="8074152" y="3177540"/>
            <a:ext cx="0" cy="2057400"/>
          </a:xfrm>
          <a:prstGeom prst="line">
            <a:avLst/>
          </a:prstGeom>
          <a:noFill/>
          <a:ln w="15875">
            <a:solidFill>
              <a:srgbClr val="9F1239"/>
            </a:solidFill>
            <a:prstDash val="dash"/>
          </a:ln>
        </p:spPr>
      </p:sp>
      <p:sp>
        <p:nvSpPr>
          <p:cNvPr id="35" name="Shape 33"/>
          <p:cNvSpPr/>
          <p:nvPr/>
        </p:nvSpPr>
        <p:spPr>
          <a:xfrm flipH="1">
            <a:off x="7818120" y="5234940"/>
            <a:ext cx="256032" cy="0"/>
          </a:xfrm>
          <a:prstGeom prst="line">
            <a:avLst/>
          </a:prstGeom>
          <a:noFill/>
          <a:ln w="15875">
            <a:solidFill>
              <a:srgbClr val="9F1239"/>
            </a:solidFill>
            <a:prstDash val="dash"/>
            <a:tailEnd type="triangle"/>
          </a:ln>
        </p:spPr>
      </p:sp>
      <p:sp>
        <p:nvSpPr>
          <p:cNvPr id="36" name="Text 34"/>
          <p:cNvSpPr txBox="1"/>
          <p:nvPr/>
        </p:nvSpPr>
        <p:spPr>
          <a:xfrm>
            <a:off x="548640" y="5596128"/>
            <a:ext cx="11064240" cy="274320"/>
          </a:xfrm>
          <a:prstGeom prst="rect">
            <a:avLst/>
          </a:prstGeom>
          <a:noFill/>
          <a:ln/>
        </p:spPr>
        <p:txBody>
          <a:bodyPr wrap="square" lIns="0" tIns="0" rIns="0" bIns="0" rtlCol="0" anchor="ctr"/>
          <a:lstStyle/>
          <a:p>
            <a:pPr algn="ctr" indent="0" marL="0">
              <a:buNone/>
            </a:pPr>
            <a:r>
              <a:rPr lang="en-US" sz="1100" i="1" dirty="0">
                <a:solidFill>
                  <a:schemeClr val="accent5"/>
                </a:solidFill>
              </a:rPr>
              <a:t>Dashed: the solver's exact result is passed to the LLM as fixed text to explain. Without an API key, every feature except written answers still works.</a:t>
            </a:r>
            <a:endParaRPr lang="en-US" sz="1100" dirty="0"/>
          </a:p>
        </p:txBody>
      </p:sp>
      <p:sp>
        <p:nvSpPr>
          <p:cNvPr id="37" name="Tech stack"/>
          <p:cNvSpPr txBox="1"/>
          <p:nvPr/>
        </p:nvSpPr>
        <p:spPr>
          <a:xfrm>
            <a:off x="548640" y="5943600"/>
            <a:ext cx="11091672" cy="411480"/>
          </a:xfrm>
          <a:prstGeom prst="rect">
            <a:avLst/>
          </a:prstGeom>
          <a:solidFill>
            <a:schemeClr val="bg2"/>
          </a:solidFill>
          <a:ln>
            <a:solidFill>
              <a:schemeClr val="bg2"/>
            </a:solidFill>
          </a:ln>
        </p:spPr>
        <p:txBody>
          <a:bodyPr wrap="square" lIns="50800" tIns="50800" rIns="50800" bIns="50800" rtlCol="0" anchor="ctr"/>
          <a:lstStyle/>
          <a:p>
            <a:pPr algn="ctr" indent="0" marL="0">
              <a:buNone/>
            </a:pPr>
            <a:r>
              <a:rPr lang="en-US" sz="1050" b="1" dirty="0">
                <a:solidFill>
                  <a:schemeClr val="tx2"/>
                </a:solidFill>
              </a:rPr>
              <a:t>Stack  </a:t>
            </a:r>
            <a:pPr algn="ctr" indent="0" marL="0">
              <a:buNone/>
            </a:pPr>
            <a:r>
              <a:rPr lang="en-US" sz="1050" dirty="0">
                <a:solidFill>
                  <a:schemeClr val="tx1"/>
                </a:solidFill>
              </a:rPr>
              <a:t>Python 3.12 · Streamlit 1.65 · rank_bm25 · BAAI/bge-base-en-v1.5 (sentence-transformers) · ChromaDB 1.5.9 · gpt-oss-120b via Groq (OpenAI-compatible API) · PyMuPDF · python-pptx</a:t>
            </a:r>
            <a:endParaRPr lang="en-US" sz="10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R&amp;D: tuning retrieval and constraining the LLM</a:t>
            </a:r>
            <a:endParaRPr lang="en-US" sz="2800" dirty="0"/>
          </a:p>
        </p:txBody>
      </p:sp>
      <p:sp>
        <p:nvSpPr>
          <p:cNvPr id="3" name="Shape 1"/>
          <p:cNvSpPr/>
          <p:nvPr/>
        </p:nvSpPr>
        <p:spPr>
          <a:xfrm>
            <a:off x="548640" y="1325880"/>
            <a:ext cx="73152" cy="1280160"/>
          </a:xfrm>
          <a:prstGeom prst="rect">
            <a:avLst/>
          </a:prstGeom>
          <a:solidFill>
            <a:srgbClr val="0F766E"/>
          </a:solidFill>
          <a:ln w="12700">
            <a:solidFill>
              <a:srgbClr val="0F766E"/>
            </a:solidFill>
            <a:prstDash val="solid"/>
          </a:ln>
        </p:spPr>
      </p:sp>
      <p:sp>
        <p:nvSpPr>
          <p:cNvPr id="4" name="Text 2"/>
          <p:cNvSpPr txBox="1"/>
          <p:nvPr/>
        </p:nvSpPr>
        <p:spPr>
          <a:xfrm>
            <a:off x="777240" y="1325880"/>
            <a:ext cx="4572000" cy="347472"/>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Retrieval experiments</a:t>
            </a:r>
            <a:endParaRPr lang="en-US" sz="1600" dirty="0"/>
          </a:p>
        </p:txBody>
      </p:sp>
      <p:sp>
        <p:nvSpPr>
          <p:cNvPr id="5" name="Text 3"/>
          <p:cNvSpPr txBox="1"/>
          <p:nvPr/>
        </p:nvSpPr>
        <p:spPr>
          <a:xfrm>
            <a:off x="777240" y="1709928"/>
            <a:ext cx="4572000" cy="896112"/>
          </a:xfrm>
          <a:prstGeom prst="rect">
            <a:avLst/>
          </a:prstGeom>
          <a:noFill/>
          <a:ln/>
        </p:spPr>
        <p:txBody>
          <a:bodyPr wrap="square" lIns="0" tIns="0" rIns="0" bIns="0" rtlCol="0" anchor="t"/>
          <a:lstStyle/>
          <a:p>
            <a:pPr indent="0" marL="0">
              <a:buNone/>
            </a:pPr>
            <a:r>
              <a:rPr lang="en-US" sz="1300" dirty="0">
                <a:solidFill>
                  <a:schemeClr val="tx1"/>
                </a:solidFill>
              </a:rPr>
              <a:t>78 labelled questions; 19 held out. A grid of 147 fusion settings was scored on the other 59; the best MRR that did not lower Hit@3 or Hit@6 was selected.</a:t>
            </a:r>
            <a:endParaRPr lang="en-US" sz="1300" dirty="0"/>
          </a:p>
        </p:txBody>
      </p:sp>
      <p:sp>
        <p:nvSpPr>
          <p:cNvPr id="6" name="Shape 4"/>
          <p:cNvSpPr/>
          <p:nvPr/>
        </p:nvSpPr>
        <p:spPr>
          <a:xfrm>
            <a:off x="548640" y="2807208"/>
            <a:ext cx="73152" cy="1280160"/>
          </a:xfrm>
          <a:prstGeom prst="rect">
            <a:avLst/>
          </a:prstGeom>
          <a:solidFill>
            <a:srgbClr val="B45309"/>
          </a:solidFill>
          <a:ln w="12700">
            <a:solidFill>
              <a:srgbClr val="B45309"/>
            </a:solidFill>
            <a:prstDash val="solid"/>
          </a:ln>
        </p:spPr>
      </p:sp>
      <p:sp>
        <p:nvSpPr>
          <p:cNvPr id="7" name="Text 5"/>
          <p:cNvSpPr txBox="1"/>
          <p:nvPr/>
        </p:nvSpPr>
        <p:spPr>
          <a:xfrm>
            <a:off x="777240" y="2807208"/>
            <a:ext cx="4572000" cy="347472"/>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Prompt engineering</a:t>
            </a:r>
            <a:endParaRPr lang="en-US" sz="1600" dirty="0"/>
          </a:p>
        </p:txBody>
      </p:sp>
      <p:sp>
        <p:nvSpPr>
          <p:cNvPr id="8" name="Text 6"/>
          <p:cNvSpPr txBox="1"/>
          <p:nvPr/>
        </p:nvSpPr>
        <p:spPr>
          <a:xfrm>
            <a:off x="777240" y="3191256"/>
            <a:ext cx="4572000" cy="896112"/>
          </a:xfrm>
          <a:prstGeom prst="rect">
            <a:avLst/>
          </a:prstGeom>
          <a:noFill/>
          <a:ln/>
        </p:spPr>
        <p:txBody>
          <a:bodyPr wrap="square" lIns="0" tIns="0" rIns="0" bIns="0" rtlCol="0" anchor="t"/>
          <a:lstStyle/>
          <a:p>
            <a:pPr indent="0" marL="0">
              <a:buNone/>
            </a:pPr>
            <a:r>
              <a:rPr lang="en-US" sz="1300" dirty="0">
                <a:solidFill>
                  <a:schemeClr val="tx1"/>
                </a:solidFill>
              </a:rPr>
              <a:t>Answer only from the numbered SOURCES, cite every factual sentence [S#], say when the sources do not cover it. Invalid citation tags are stripped in code; quiz JSON is validated.</a:t>
            </a:r>
            <a:endParaRPr lang="en-US" sz="1300" dirty="0"/>
          </a:p>
        </p:txBody>
      </p:sp>
      <p:sp>
        <p:nvSpPr>
          <p:cNvPr id="9" name="Shape 7"/>
          <p:cNvSpPr/>
          <p:nvPr/>
        </p:nvSpPr>
        <p:spPr>
          <a:xfrm>
            <a:off x="548640" y="4288536"/>
            <a:ext cx="73152" cy="1280160"/>
          </a:xfrm>
          <a:prstGeom prst="rect">
            <a:avLst/>
          </a:prstGeom>
          <a:solidFill>
            <a:srgbClr val="9F1239"/>
          </a:solidFill>
          <a:ln w="12700">
            <a:solidFill>
              <a:srgbClr val="9F1239"/>
            </a:solidFill>
            <a:prstDash val="solid"/>
          </a:ln>
        </p:spPr>
      </p:sp>
      <p:sp>
        <p:nvSpPr>
          <p:cNvPr id="10" name="Text 8"/>
          <p:cNvSpPr txBox="1"/>
          <p:nvPr/>
        </p:nvSpPr>
        <p:spPr>
          <a:xfrm>
            <a:off x="777240" y="4288536"/>
            <a:ext cx="4572000" cy="347472"/>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Implementation</a:t>
            </a:r>
            <a:endParaRPr lang="en-US" sz="1600" dirty="0"/>
          </a:p>
        </p:txBody>
      </p:sp>
      <p:sp>
        <p:nvSpPr>
          <p:cNvPr id="11" name="Text 9"/>
          <p:cNvSpPr txBox="1"/>
          <p:nvPr/>
        </p:nvSpPr>
        <p:spPr>
          <a:xfrm>
            <a:off x="777240" y="4672584"/>
            <a:ext cx="4572000" cy="896112"/>
          </a:xfrm>
          <a:prstGeom prst="rect">
            <a:avLst/>
          </a:prstGeom>
          <a:noFill/>
          <a:ln/>
        </p:spPr>
        <p:txBody>
          <a:bodyPr wrap="square" lIns="0" tIns="0" rIns="0" bIns="0" rtlCol="0" anchor="t"/>
          <a:lstStyle/>
          <a:p>
            <a:pPr indent="0" marL="0">
              <a:buNone/>
            </a:pPr>
            <a:r>
              <a:rPr lang="en-US" sz="1300" dirty="0">
                <a:solidFill>
                  <a:schemeClr val="tx1"/>
                </a:solidFill>
              </a:rPr>
              <a:t>Solvers record every decision; the debugger, OS Lab and learning map read those states. 71 automated tests in 7 suites, all passing.</a:t>
            </a:r>
            <a:endParaRPr lang="en-US" sz="1300" dirty="0"/>
          </a:p>
        </p:txBody>
      </p:sp>
      <p:graphicFrame>
        <p:nvGraphicFramePr>
          <p:cNvPr id="12" name="Retrieval chart" descr=""/>
          <p:cNvGraphicFramePr/>
          <p:nvPr/>
        </p:nvGraphicFramePr>
        <p:xfrm>
          <a:off x="5760720" y="1234440"/>
          <a:ext cx="5852160" cy="324612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5760720" y="4617720"/>
            <a:ext cx="1874520" cy="1005840"/>
          </a:xfrm>
          <a:prstGeom prst="rect">
            <a:avLst/>
          </a:prstGeom>
          <a:solidFill>
            <a:schemeClr val="bg2"/>
          </a:solidFill>
          <a:ln w="12700">
            <a:solidFill>
              <a:schemeClr val="bg2"/>
            </a:solidFill>
            <a:prstDash val="solid"/>
          </a:ln>
        </p:spPr>
      </p:sp>
      <p:sp>
        <p:nvSpPr>
          <p:cNvPr id="14" name="Text 11"/>
          <p:cNvSpPr txBox="1"/>
          <p:nvPr/>
        </p:nvSpPr>
        <p:spPr>
          <a:xfrm>
            <a:off x="5760720" y="4681728"/>
            <a:ext cx="1874520" cy="457200"/>
          </a:xfrm>
          <a:prstGeom prst="rect">
            <a:avLst/>
          </a:prstGeom>
          <a:noFill/>
          <a:ln/>
        </p:spPr>
        <p:txBody>
          <a:bodyPr wrap="square" lIns="0" tIns="0" rIns="0" bIns="0" rtlCol="0" anchor="ctr"/>
          <a:lstStyle/>
          <a:p>
            <a:pPr algn="ctr" indent="0" marL="0">
              <a:buNone/>
            </a:pPr>
            <a:r>
              <a:rPr lang="en-US" sz="1900" b="1" dirty="0">
                <a:solidFill>
                  <a:schemeClr val="accent1"/>
                </a:solidFill>
              </a:rPr>
              <a:t>71.8% → 76.9%</a:t>
            </a:r>
            <a:endParaRPr lang="en-US" sz="1900" dirty="0"/>
          </a:p>
        </p:txBody>
      </p:sp>
      <p:sp>
        <p:nvSpPr>
          <p:cNvPr id="15" name="Text 12"/>
          <p:cNvSpPr txBox="1"/>
          <p:nvPr/>
        </p:nvSpPr>
        <p:spPr>
          <a:xfrm>
            <a:off x="5760720" y="5138928"/>
            <a:ext cx="1874520" cy="411480"/>
          </a:xfrm>
          <a:prstGeom prst="rect">
            <a:avLst/>
          </a:prstGeom>
          <a:noFill/>
          <a:ln/>
        </p:spPr>
        <p:txBody>
          <a:bodyPr wrap="square" lIns="0" tIns="0" rIns="0" bIns="0" rtlCol="0" anchor="t"/>
          <a:lstStyle/>
          <a:p>
            <a:pPr algn="ctr" indent="0" marL="0">
              <a:buNone/>
            </a:pPr>
            <a:r>
              <a:rPr lang="en-US" sz="1100" dirty="0">
                <a:solidFill>
                  <a:schemeClr val="accent5"/>
                </a:solidFill>
              </a:rPr>
              <a:t>Hit@1, all 78 questions</a:t>
            </a:r>
            <a:endParaRPr lang="en-US" sz="1100" dirty="0"/>
          </a:p>
        </p:txBody>
      </p:sp>
      <p:sp>
        <p:nvSpPr>
          <p:cNvPr id="16" name="Shape 13"/>
          <p:cNvSpPr/>
          <p:nvPr/>
        </p:nvSpPr>
        <p:spPr>
          <a:xfrm>
            <a:off x="7744968" y="4617720"/>
            <a:ext cx="1874520" cy="1005840"/>
          </a:xfrm>
          <a:prstGeom prst="rect">
            <a:avLst/>
          </a:prstGeom>
          <a:solidFill>
            <a:schemeClr val="bg2"/>
          </a:solidFill>
          <a:ln w="12700">
            <a:solidFill>
              <a:schemeClr val="bg2"/>
            </a:solidFill>
            <a:prstDash val="solid"/>
          </a:ln>
        </p:spPr>
      </p:sp>
      <p:sp>
        <p:nvSpPr>
          <p:cNvPr id="17" name="Text 14"/>
          <p:cNvSpPr txBox="1"/>
          <p:nvPr/>
        </p:nvSpPr>
        <p:spPr>
          <a:xfrm>
            <a:off x="7744968" y="4681728"/>
            <a:ext cx="1874520" cy="457200"/>
          </a:xfrm>
          <a:prstGeom prst="rect">
            <a:avLst/>
          </a:prstGeom>
          <a:noFill/>
          <a:ln/>
        </p:spPr>
        <p:txBody>
          <a:bodyPr wrap="square" lIns="0" tIns="0" rIns="0" bIns="0" rtlCol="0" anchor="ctr"/>
          <a:lstStyle/>
          <a:p>
            <a:pPr algn="ctr" indent="0" marL="0">
              <a:buNone/>
            </a:pPr>
            <a:r>
              <a:rPr lang="en-US" sz="1900" b="1" dirty="0">
                <a:solidFill>
                  <a:schemeClr val="accent1"/>
                </a:solidFill>
              </a:rPr>
              <a:t>84.2% → 94.7%</a:t>
            </a:r>
            <a:endParaRPr lang="en-US" sz="1900" dirty="0"/>
          </a:p>
        </p:txBody>
      </p:sp>
      <p:sp>
        <p:nvSpPr>
          <p:cNvPr id="18" name="Text 15"/>
          <p:cNvSpPr txBox="1"/>
          <p:nvPr/>
        </p:nvSpPr>
        <p:spPr>
          <a:xfrm>
            <a:off x="7744968" y="5138928"/>
            <a:ext cx="1874520" cy="411480"/>
          </a:xfrm>
          <a:prstGeom prst="rect">
            <a:avLst/>
          </a:prstGeom>
          <a:noFill/>
          <a:ln/>
        </p:spPr>
        <p:txBody>
          <a:bodyPr wrap="square" lIns="0" tIns="0" rIns="0" bIns="0" rtlCol="0" anchor="t"/>
          <a:lstStyle/>
          <a:p>
            <a:pPr algn="ctr" indent="0" marL="0">
              <a:buNone/>
            </a:pPr>
            <a:r>
              <a:rPr lang="en-US" sz="1100" dirty="0">
                <a:solidFill>
                  <a:schemeClr val="accent5"/>
                </a:solidFill>
              </a:rPr>
              <a:t>Hit@1, 19 held-out questions</a:t>
            </a:r>
            <a:endParaRPr lang="en-US" sz="1100" dirty="0"/>
          </a:p>
        </p:txBody>
      </p:sp>
      <p:sp>
        <p:nvSpPr>
          <p:cNvPr id="19" name="Shape 16"/>
          <p:cNvSpPr/>
          <p:nvPr/>
        </p:nvSpPr>
        <p:spPr>
          <a:xfrm>
            <a:off x="9729216" y="4617720"/>
            <a:ext cx="1874520" cy="1005840"/>
          </a:xfrm>
          <a:prstGeom prst="rect">
            <a:avLst/>
          </a:prstGeom>
          <a:solidFill>
            <a:schemeClr val="bg2"/>
          </a:solidFill>
          <a:ln w="12700">
            <a:solidFill>
              <a:schemeClr val="bg2"/>
            </a:solidFill>
            <a:prstDash val="solid"/>
          </a:ln>
        </p:spPr>
      </p:sp>
      <p:sp>
        <p:nvSpPr>
          <p:cNvPr id="20" name="Text 17"/>
          <p:cNvSpPr txBox="1"/>
          <p:nvPr/>
        </p:nvSpPr>
        <p:spPr>
          <a:xfrm>
            <a:off x="9729216" y="4681728"/>
            <a:ext cx="1874520" cy="457200"/>
          </a:xfrm>
          <a:prstGeom prst="rect">
            <a:avLst/>
          </a:prstGeom>
          <a:noFill/>
          <a:ln/>
        </p:spPr>
        <p:txBody>
          <a:bodyPr wrap="square" lIns="0" tIns="0" rIns="0" bIns="0" rtlCol="0" anchor="ctr"/>
          <a:lstStyle/>
          <a:p>
            <a:pPr algn="ctr" indent="0" marL="0">
              <a:buNone/>
            </a:pPr>
            <a:r>
              <a:rPr lang="en-US" sz="1900" b="1" dirty="0">
                <a:solidFill>
                  <a:schemeClr val="accent1"/>
                </a:solidFill>
              </a:rPr>
              <a:t>0.830 → 0.858</a:t>
            </a:r>
            <a:endParaRPr lang="en-US" sz="1900" dirty="0"/>
          </a:p>
        </p:txBody>
      </p:sp>
      <p:sp>
        <p:nvSpPr>
          <p:cNvPr id="21" name="Text 18"/>
          <p:cNvSpPr txBox="1"/>
          <p:nvPr/>
        </p:nvSpPr>
        <p:spPr>
          <a:xfrm>
            <a:off x="9729216" y="5138928"/>
            <a:ext cx="1874520" cy="411480"/>
          </a:xfrm>
          <a:prstGeom prst="rect">
            <a:avLst/>
          </a:prstGeom>
          <a:noFill/>
          <a:ln/>
        </p:spPr>
        <p:txBody>
          <a:bodyPr wrap="square" lIns="0" tIns="0" rIns="0" bIns="0" rtlCol="0" anchor="t"/>
          <a:lstStyle/>
          <a:p>
            <a:pPr algn="ctr" indent="0" marL="0">
              <a:buNone/>
            </a:pPr>
            <a:r>
              <a:rPr lang="en-US" sz="1100" dirty="0">
                <a:solidFill>
                  <a:schemeClr val="accent5"/>
                </a:solidFill>
              </a:rPr>
              <a:t>MRR, all 78 questions</a:t>
            </a:r>
            <a:endParaRPr lang="en-US" sz="1100" dirty="0"/>
          </a:p>
        </p:txBody>
      </p:sp>
      <p:sp>
        <p:nvSpPr>
          <p:cNvPr id="22" name="Text 19"/>
          <p:cNvSpPr txBox="1"/>
          <p:nvPr/>
        </p:nvSpPr>
        <p:spPr>
          <a:xfrm>
            <a:off x="5760720" y="5715000"/>
            <a:ext cx="5852160" cy="457200"/>
          </a:xfrm>
          <a:prstGeom prst="rect">
            <a:avLst/>
          </a:prstGeom>
          <a:noFill/>
          <a:ln/>
        </p:spPr>
        <p:txBody>
          <a:bodyPr wrap="square" lIns="0" tIns="0" rIns="0" bIns="0" rtlCol="0" anchor="ctr"/>
          <a:lstStyle/>
          <a:p>
            <a:pPr indent="0" marL="0">
              <a:buNone/>
            </a:pPr>
            <a:r>
              <a:rPr lang="en-US" sz="1100" i="1" dirty="0">
                <a:solidFill>
                  <a:schemeClr val="accent5"/>
                </a:solidFill>
              </a:rPr>
              <a:t>Hit@6 is unchanged at 98.7%. Per-topic changes are not statistically significant: the smallest topics have only 3 and 5 questions.</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Features in use, and how they were checked</a:t>
            </a:r>
            <a:endParaRPr lang="en-US" sz="2800" dirty="0"/>
          </a:p>
        </p:txBody>
      </p:sp>
      <p:pic>
        <p:nvPicPr>
          <p:cNvPr id="3" name="shot_debugger.png" descr="Check my working: a missed SRTF preemption found at t = 1, with cause, hint and correction">    </p:cNvPr>
          <p:cNvPicPr>
            <a:picLocks noChangeAspect="1"/>
          </p:cNvPicPr>
          <p:nvPr/>
        </p:nvPicPr>
        <p:blipFill>
          <a:blip r:embed="rId1"/>
          <a:stretch>
            <a:fillRect/>
          </a:stretch>
        </p:blipFill>
        <p:spPr>
          <a:xfrm>
            <a:off x="548640" y="1280160"/>
            <a:ext cx="3612653" cy="2971800"/>
          </a:xfrm>
          <a:prstGeom prst="rect">
            <a:avLst/>
          </a:prstGeom>
        </p:spPr>
      </p:pic>
      <p:sp>
        <p:nvSpPr>
          <p:cNvPr id="4" name="Shape 1"/>
          <p:cNvSpPr/>
          <p:nvPr/>
        </p:nvSpPr>
        <p:spPr>
          <a:xfrm>
            <a:off x="548640" y="1280160"/>
            <a:ext cx="3612653" cy="2971800"/>
          </a:xfrm>
          <a:prstGeom prst="rect">
            <a:avLst/>
          </a:prstGeom>
          <a:solidFill>
            <a:schemeClr val="bg1">
              <a:alpha val="0"/>
            </a:schemeClr>
          </a:solidFill>
          <a:ln w="9525">
            <a:solidFill>
              <a:schemeClr val="accent6"/>
            </a:solidFill>
            <a:prstDash val="solid"/>
          </a:ln>
        </p:spPr>
      </p:sp>
      <p:sp>
        <p:nvSpPr>
          <p:cNvPr id="5" name="Text 2"/>
          <p:cNvSpPr txBox="1"/>
          <p:nvPr/>
        </p:nvSpPr>
        <p:spPr>
          <a:xfrm>
            <a:off x="548640" y="4315968"/>
            <a:ext cx="3612653" cy="502920"/>
          </a:xfrm>
          <a:prstGeom prst="rect">
            <a:avLst/>
          </a:prstGeom>
          <a:noFill/>
          <a:ln/>
        </p:spPr>
        <p:txBody>
          <a:bodyPr wrap="square" lIns="0" tIns="0" rIns="0" bIns="0" rtlCol="0" anchor="t"/>
          <a:lstStyle/>
          <a:p>
            <a:pPr indent="0" marL="0">
              <a:buNone/>
            </a:pPr>
            <a:r>
              <a:rPr lang="en-US" sz="1100" i="1" dirty="0">
                <a:solidFill>
                  <a:schemeClr val="accent5"/>
                </a:solidFill>
              </a:rPr>
              <a:t>Check my working: a missed SRTF preemption found at t = 1, with cause, hint and correction</a:t>
            </a:r>
            <a:endParaRPr lang="en-US" sz="1100" dirty="0"/>
          </a:p>
        </p:txBody>
      </p:sp>
      <p:pic>
        <p:nvPicPr>
          <p:cNvPr id="6" name="shot_lab.png" descr="OS Lab: Round Robin at t = 4; the student predicted P2, the scheduler runs P3">    </p:cNvPr>
          <p:cNvPicPr>
            <a:picLocks noChangeAspect="1"/>
          </p:cNvPicPr>
          <p:nvPr/>
        </p:nvPicPr>
        <p:blipFill>
          <a:blip r:embed="rId2"/>
          <a:stretch>
            <a:fillRect/>
          </a:stretch>
        </p:blipFill>
        <p:spPr>
          <a:xfrm>
            <a:off x="4777502" y="1280160"/>
            <a:ext cx="2890007" cy="2971800"/>
          </a:xfrm>
          <a:prstGeom prst="rect">
            <a:avLst/>
          </a:prstGeom>
        </p:spPr>
      </p:pic>
      <p:sp>
        <p:nvSpPr>
          <p:cNvPr id="7" name="Shape 3"/>
          <p:cNvSpPr/>
          <p:nvPr/>
        </p:nvSpPr>
        <p:spPr>
          <a:xfrm>
            <a:off x="4777502" y="1280160"/>
            <a:ext cx="2890007" cy="2971800"/>
          </a:xfrm>
          <a:prstGeom prst="rect">
            <a:avLst/>
          </a:prstGeom>
          <a:solidFill>
            <a:schemeClr val="bg1">
              <a:alpha val="0"/>
            </a:schemeClr>
          </a:solidFill>
          <a:ln w="9525">
            <a:solidFill>
              <a:schemeClr val="accent6"/>
            </a:solidFill>
            <a:prstDash val="solid"/>
          </a:ln>
        </p:spPr>
      </p:sp>
      <p:sp>
        <p:nvSpPr>
          <p:cNvPr id="8" name="Text 4"/>
          <p:cNvSpPr txBox="1"/>
          <p:nvPr/>
        </p:nvSpPr>
        <p:spPr>
          <a:xfrm>
            <a:off x="4777502" y="4315968"/>
            <a:ext cx="2890007" cy="502920"/>
          </a:xfrm>
          <a:prstGeom prst="rect">
            <a:avLst/>
          </a:prstGeom>
          <a:noFill/>
          <a:ln/>
        </p:spPr>
        <p:txBody>
          <a:bodyPr wrap="square" lIns="0" tIns="0" rIns="0" bIns="0" rtlCol="0" anchor="t"/>
          <a:lstStyle/>
          <a:p>
            <a:pPr indent="0" marL="0">
              <a:buNone/>
            </a:pPr>
            <a:r>
              <a:rPr lang="en-US" sz="1100" i="1" dirty="0">
                <a:solidFill>
                  <a:schemeClr val="accent5"/>
                </a:solidFill>
              </a:rPr>
              <a:t>OS Lab: Round Robin at t = 4; the student predicted P2, the scheduler runs P3</a:t>
            </a:r>
            <a:endParaRPr lang="en-US" sz="1100" dirty="0"/>
          </a:p>
        </p:txBody>
      </p:sp>
      <p:pic>
        <p:nvPicPr>
          <p:cNvPr id="9" name="shot_banker.png" descr="Numerical solver: Banker's algorithm safe sequence with Work after each step">    </p:cNvPr>
          <p:cNvPicPr>
            <a:picLocks noChangeAspect="1"/>
          </p:cNvPicPr>
          <p:nvPr/>
        </p:nvPicPr>
        <p:blipFill>
          <a:blip r:embed="rId3"/>
          <a:stretch>
            <a:fillRect/>
          </a:stretch>
        </p:blipFill>
        <p:spPr>
          <a:xfrm>
            <a:off x="8283717" y="1280160"/>
            <a:ext cx="3356595" cy="2971800"/>
          </a:xfrm>
          <a:prstGeom prst="rect">
            <a:avLst/>
          </a:prstGeom>
        </p:spPr>
      </p:pic>
      <p:sp>
        <p:nvSpPr>
          <p:cNvPr id="10" name="Shape 5"/>
          <p:cNvSpPr/>
          <p:nvPr/>
        </p:nvSpPr>
        <p:spPr>
          <a:xfrm>
            <a:off x="8283717" y="1280160"/>
            <a:ext cx="3356595" cy="2971800"/>
          </a:xfrm>
          <a:prstGeom prst="rect">
            <a:avLst/>
          </a:prstGeom>
          <a:solidFill>
            <a:schemeClr val="bg1">
              <a:alpha val="0"/>
            </a:schemeClr>
          </a:solidFill>
          <a:ln w="9525">
            <a:solidFill>
              <a:schemeClr val="accent6"/>
            </a:solidFill>
            <a:prstDash val="solid"/>
          </a:ln>
        </p:spPr>
      </p:sp>
      <p:sp>
        <p:nvSpPr>
          <p:cNvPr id="11" name="Text 6"/>
          <p:cNvSpPr txBox="1"/>
          <p:nvPr/>
        </p:nvSpPr>
        <p:spPr>
          <a:xfrm>
            <a:off x="8283717" y="4315968"/>
            <a:ext cx="3356595" cy="502920"/>
          </a:xfrm>
          <a:prstGeom prst="rect">
            <a:avLst/>
          </a:prstGeom>
          <a:noFill/>
          <a:ln/>
        </p:spPr>
        <p:txBody>
          <a:bodyPr wrap="square" lIns="0" tIns="0" rIns="0" bIns="0" rtlCol="0" anchor="t"/>
          <a:lstStyle/>
          <a:p>
            <a:pPr indent="0" marL="0">
              <a:buNone/>
            </a:pPr>
            <a:r>
              <a:rPr lang="en-US" sz="1100" i="1" dirty="0">
                <a:solidFill>
                  <a:schemeClr val="accent5"/>
                </a:solidFill>
              </a:rPr>
              <a:t>Numerical solver: Banker's algorithm safe sequence with Work after each step</a:t>
            </a:r>
            <a:endParaRPr lang="en-US" sz="1100" dirty="0"/>
          </a:p>
        </p:txBody>
      </p:sp>
      <p:sp>
        <p:nvSpPr>
          <p:cNvPr id="12" name="Shape 7"/>
          <p:cNvSpPr/>
          <p:nvPr/>
        </p:nvSpPr>
        <p:spPr>
          <a:xfrm>
            <a:off x="548640" y="4983480"/>
            <a:ext cx="2635758" cy="1188720"/>
          </a:xfrm>
          <a:prstGeom prst="rect">
            <a:avLst/>
          </a:prstGeom>
          <a:solidFill>
            <a:schemeClr val="bg2"/>
          </a:solidFill>
          <a:ln w="12700">
            <a:solidFill>
              <a:schemeClr val="bg2"/>
            </a:solidFill>
            <a:prstDash val="solid"/>
          </a:ln>
        </p:spPr>
      </p:sp>
      <p:sp>
        <p:nvSpPr>
          <p:cNvPr id="13" name="Shape 8"/>
          <p:cNvSpPr/>
          <p:nvPr/>
        </p:nvSpPr>
        <p:spPr>
          <a:xfrm>
            <a:off x="548640" y="4983480"/>
            <a:ext cx="64008" cy="1188720"/>
          </a:xfrm>
          <a:prstGeom prst="rect">
            <a:avLst/>
          </a:prstGeom>
          <a:solidFill>
            <a:srgbClr val="0F766E"/>
          </a:solidFill>
          <a:ln w="12700">
            <a:solidFill>
              <a:srgbClr val="0F766E"/>
            </a:solidFill>
            <a:prstDash val="solid"/>
          </a:ln>
        </p:spPr>
      </p:sp>
      <p:sp>
        <p:nvSpPr>
          <p:cNvPr id="14" name="Text 9"/>
          <p:cNvSpPr txBox="1"/>
          <p:nvPr/>
        </p:nvSpPr>
        <p:spPr>
          <a:xfrm>
            <a:off x="777240" y="5074920"/>
            <a:ext cx="2269998" cy="45720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71 / 71</a:t>
            </a:r>
            <a:endParaRPr lang="en-US" sz="2200" dirty="0"/>
          </a:p>
        </p:txBody>
      </p:sp>
      <p:sp>
        <p:nvSpPr>
          <p:cNvPr id="15" name="Text 10"/>
          <p:cNvSpPr txBox="1"/>
          <p:nvPr/>
        </p:nvSpPr>
        <p:spPr>
          <a:xfrm>
            <a:off x="777240" y="5532120"/>
            <a:ext cx="2269998" cy="566928"/>
          </a:xfrm>
          <a:prstGeom prst="rect">
            <a:avLst/>
          </a:prstGeom>
          <a:noFill/>
          <a:ln/>
        </p:spPr>
        <p:txBody>
          <a:bodyPr wrap="square" lIns="0" tIns="0" rIns="0" bIns="0" rtlCol="0" anchor="t"/>
          <a:lstStyle/>
          <a:p>
            <a:pPr indent="0" marL="0">
              <a:buNone/>
            </a:pPr>
            <a:r>
              <a:rPr lang="en-US" sz="1150" dirty="0">
                <a:solidFill>
                  <a:schemeClr val="tx1"/>
                </a:solidFill>
              </a:rPr>
              <a:t>automated tests pass (7 suites), no API key needed</a:t>
            </a:r>
            <a:endParaRPr lang="en-US" sz="1150" dirty="0"/>
          </a:p>
        </p:txBody>
      </p:sp>
      <p:sp>
        <p:nvSpPr>
          <p:cNvPr id="16" name="Shape 11"/>
          <p:cNvSpPr/>
          <p:nvPr/>
        </p:nvSpPr>
        <p:spPr>
          <a:xfrm>
            <a:off x="3367278" y="4983480"/>
            <a:ext cx="2635758" cy="1188720"/>
          </a:xfrm>
          <a:prstGeom prst="rect">
            <a:avLst/>
          </a:prstGeom>
          <a:solidFill>
            <a:schemeClr val="bg2"/>
          </a:solidFill>
          <a:ln w="12700">
            <a:solidFill>
              <a:schemeClr val="bg2"/>
            </a:solidFill>
            <a:prstDash val="solid"/>
          </a:ln>
        </p:spPr>
      </p:sp>
      <p:sp>
        <p:nvSpPr>
          <p:cNvPr id="17" name="Shape 12"/>
          <p:cNvSpPr/>
          <p:nvPr/>
        </p:nvSpPr>
        <p:spPr>
          <a:xfrm>
            <a:off x="3367278" y="4983480"/>
            <a:ext cx="64008" cy="1188720"/>
          </a:xfrm>
          <a:prstGeom prst="rect">
            <a:avLst/>
          </a:prstGeom>
          <a:solidFill>
            <a:srgbClr val="0F766E"/>
          </a:solidFill>
          <a:ln w="12700">
            <a:solidFill>
              <a:srgbClr val="0F766E"/>
            </a:solidFill>
            <a:prstDash val="solid"/>
          </a:ln>
        </p:spPr>
      </p:sp>
      <p:sp>
        <p:nvSpPr>
          <p:cNvPr id="18" name="Text 13"/>
          <p:cNvSpPr txBox="1"/>
          <p:nvPr/>
        </p:nvSpPr>
        <p:spPr>
          <a:xfrm>
            <a:off x="3595878" y="5074920"/>
            <a:ext cx="2269998" cy="45720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20</a:t>
            </a:r>
            <a:endParaRPr lang="en-US" sz="2200" dirty="0"/>
          </a:p>
        </p:txBody>
      </p:sp>
      <p:sp>
        <p:nvSpPr>
          <p:cNvPr id="19" name="Text 14"/>
          <p:cNvSpPr txBox="1"/>
          <p:nvPr/>
        </p:nvSpPr>
        <p:spPr>
          <a:xfrm>
            <a:off x="3595878" y="5532120"/>
            <a:ext cx="2269998" cy="566928"/>
          </a:xfrm>
          <a:prstGeom prst="rect">
            <a:avLst/>
          </a:prstGeom>
          <a:noFill/>
          <a:ln/>
        </p:spPr>
        <p:txBody>
          <a:bodyPr wrap="square" lIns="0" tIns="0" rIns="0" bIns="0" rtlCol="0" anchor="t"/>
          <a:lstStyle/>
          <a:p>
            <a:pPr indent="0" marL="0">
              <a:buNone/>
            </a:pPr>
            <a:r>
              <a:rPr lang="en-US" sz="1150" dirty="0">
                <a:solidFill>
                  <a:schemeClr val="tx1"/>
                </a:solidFill>
              </a:rPr>
              <a:t>worked examples from the slides and textbook, solved in code in the chat</a:t>
            </a:r>
            <a:endParaRPr lang="en-US" sz="1150" dirty="0"/>
          </a:p>
        </p:txBody>
      </p:sp>
      <p:sp>
        <p:nvSpPr>
          <p:cNvPr id="20" name="Shape 15"/>
          <p:cNvSpPr/>
          <p:nvPr/>
        </p:nvSpPr>
        <p:spPr>
          <a:xfrm>
            <a:off x="6185916" y="4983480"/>
            <a:ext cx="2635758" cy="1188720"/>
          </a:xfrm>
          <a:prstGeom prst="rect">
            <a:avLst/>
          </a:prstGeom>
          <a:solidFill>
            <a:schemeClr val="bg2"/>
          </a:solidFill>
          <a:ln w="12700">
            <a:solidFill>
              <a:schemeClr val="bg2"/>
            </a:solidFill>
            <a:prstDash val="solid"/>
          </a:ln>
        </p:spPr>
      </p:sp>
      <p:sp>
        <p:nvSpPr>
          <p:cNvPr id="21" name="Shape 16"/>
          <p:cNvSpPr/>
          <p:nvPr/>
        </p:nvSpPr>
        <p:spPr>
          <a:xfrm>
            <a:off x="6185916" y="4983480"/>
            <a:ext cx="64008" cy="1188720"/>
          </a:xfrm>
          <a:prstGeom prst="rect">
            <a:avLst/>
          </a:prstGeom>
          <a:solidFill>
            <a:srgbClr val="0F766E"/>
          </a:solidFill>
          <a:ln w="12700">
            <a:solidFill>
              <a:srgbClr val="0F766E"/>
            </a:solidFill>
            <a:prstDash val="solid"/>
          </a:ln>
        </p:spPr>
      </p:sp>
      <p:sp>
        <p:nvSpPr>
          <p:cNvPr id="22" name="Text 17"/>
          <p:cNvSpPr txBox="1"/>
          <p:nvPr/>
        </p:nvSpPr>
        <p:spPr>
          <a:xfrm>
            <a:off x="6414516" y="5074920"/>
            <a:ext cx="2269998" cy="45720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6 pages</a:t>
            </a:r>
            <a:endParaRPr lang="en-US" sz="2200" dirty="0"/>
          </a:p>
        </p:txBody>
      </p:sp>
      <p:sp>
        <p:nvSpPr>
          <p:cNvPr id="23" name="Text 18"/>
          <p:cNvSpPr txBox="1"/>
          <p:nvPr/>
        </p:nvSpPr>
        <p:spPr>
          <a:xfrm>
            <a:off x="6414516" y="5532120"/>
            <a:ext cx="2269998" cy="566928"/>
          </a:xfrm>
          <a:prstGeom prst="rect">
            <a:avLst/>
          </a:prstGeom>
          <a:noFill/>
          <a:ln/>
        </p:spPr>
        <p:txBody>
          <a:bodyPr wrap="square" lIns="0" tIns="0" rIns="0" bIns="0" rtlCol="0" anchor="t"/>
          <a:lstStyle/>
          <a:p>
            <a:pPr indent="0" marL="0">
              <a:buNone/>
            </a:pPr>
            <a:r>
              <a:rPr lang="en-US" sz="1150" dirty="0">
                <a:solidFill>
                  <a:schemeClr val="tx1"/>
                </a:solidFill>
              </a:rPr>
              <a:t>exercised in the browser: chat, solvers, debugger, lab, map, quiz</a:t>
            </a:r>
            <a:endParaRPr lang="en-US" sz="1150" dirty="0"/>
          </a:p>
        </p:txBody>
      </p:sp>
      <p:sp>
        <p:nvSpPr>
          <p:cNvPr id="24" name="Shape 19"/>
          <p:cNvSpPr/>
          <p:nvPr/>
        </p:nvSpPr>
        <p:spPr>
          <a:xfrm>
            <a:off x="9004554" y="4983480"/>
            <a:ext cx="2635758" cy="1188720"/>
          </a:xfrm>
          <a:prstGeom prst="rect">
            <a:avLst/>
          </a:prstGeom>
          <a:solidFill>
            <a:schemeClr val="bg2"/>
          </a:solidFill>
          <a:ln w="12700">
            <a:solidFill>
              <a:schemeClr val="bg2"/>
            </a:solidFill>
            <a:prstDash val="solid"/>
          </a:ln>
        </p:spPr>
      </p:sp>
      <p:sp>
        <p:nvSpPr>
          <p:cNvPr id="25" name="Shape 20"/>
          <p:cNvSpPr/>
          <p:nvPr/>
        </p:nvSpPr>
        <p:spPr>
          <a:xfrm>
            <a:off x="9004554" y="4983480"/>
            <a:ext cx="64008" cy="1188720"/>
          </a:xfrm>
          <a:prstGeom prst="rect">
            <a:avLst/>
          </a:prstGeom>
          <a:solidFill>
            <a:srgbClr val="B45309"/>
          </a:solidFill>
          <a:ln w="12700">
            <a:solidFill>
              <a:srgbClr val="B45309"/>
            </a:solidFill>
            <a:prstDash val="solid"/>
          </a:ln>
        </p:spPr>
      </p:sp>
      <p:sp>
        <p:nvSpPr>
          <p:cNvPr id="26" name="Text 21"/>
          <p:cNvSpPr txBox="1"/>
          <p:nvPr/>
        </p:nvSpPr>
        <p:spPr>
          <a:xfrm>
            <a:off x="9233154" y="5074920"/>
            <a:ext cx="2269998" cy="457200"/>
          </a:xfrm>
          <a:prstGeom prst="rect">
            <a:avLst/>
          </a:prstGeom>
          <a:noFill/>
          <a:ln/>
        </p:spPr>
        <p:txBody>
          <a:bodyPr wrap="square" lIns="0" tIns="0" rIns="0" bIns="0" rtlCol="0" anchor="ctr"/>
          <a:lstStyle/>
          <a:p>
            <a:pPr indent="0" marL="0">
              <a:buNone/>
            </a:pPr>
            <a:r>
              <a:rPr lang="en-US" sz="2200" b="1" dirty="0">
                <a:solidFill>
                  <a:srgbClr val="B45309"/>
                </a:solidFill>
                <a:latin typeface="Cambria" pitchFamily="34" charset="0"/>
                <a:ea typeface="Cambria" pitchFamily="34" charset="-122"/>
                <a:cs typeface="Cambria" pitchFamily="34" charset="-120"/>
              </a:rPr>
              <a:t>Not yet</a:t>
            </a:r>
            <a:endParaRPr lang="en-US" sz="2200" dirty="0"/>
          </a:p>
        </p:txBody>
      </p:sp>
      <p:sp>
        <p:nvSpPr>
          <p:cNvPr id="27" name="Text 22"/>
          <p:cNvSpPr txBox="1"/>
          <p:nvPr/>
        </p:nvSpPr>
        <p:spPr>
          <a:xfrm>
            <a:off x="9233154" y="5532120"/>
            <a:ext cx="2269998" cy="566928"/>
          </a:xfrm>
          <a:prstGeom prst="rect">
            <a:avLst/>
          </a:prstGeom>
          <a:noFill/>
          <a:ln/>
        </p:spPr>
        <p:txBody>
          <a:bodyPr wrap="square" lIns="0" tIns="0" rIns="0" bIns="0" rtlCol="0" anchor="t"/>
          <a:lstStyle/>
          <a:p>
            <a:pPr indent="0" marL="0">
              <a:buNone/>
            </a:pPr>
            <a:r>
              <a:rPr lang="en-US" sz="1150" dirty="0">
                <a:solidFill>
                  <a:schemeClr val="tx1"/>
                </a:solidFill>
              </a:rPr>
              <a:t>evaluated: LLM-written answers and questions; no student study</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Conclusion and future work</a:t>
            </a:r>
            <a:endParaRPr lang="en-US" sz="2800" dirty="0"/>
          </a:p>
        </p:txBody>
      </p:sp>
      <p:sp>
        <p:nvSpPr>
          <p:cNvPr id="3" name="Text 1"/>
          <p:cNvSpPr txBox="1"/>
          <p:nvPr/>
        </p:nvSpPr>
        <p:spPr>
          <a:xfrm>
            <a:off x="548640" y="1371600"/>
            <a:ext cx="5760720" cy="41148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What OSmosis shows</a:t>
            </a:r>
            <a:endParaRPr lang="en-US" sz="1900" dirty="0"/>
          </a:p>
        </p:txBody>
      </p:sp>
      <p:sp>
        <p:nvSpPr>
          <p:cNvPr id="4" name="Text 2"/>
          <p:cNvSpPr txBox="1"/>
          <p:nvPr/>
        </p:nvSpPr>
        <p:spPr>
          <a:xfrm>
            <a:off x="548640" y="1874520"/>
            <a:ext cx="5760720" cy="329184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chemeClr val="bg1"/>
                </a:solidFill>
              </a:rPr>
              <a:t>Grounded explanation and exact computation are kept apart: the LLM explains from cited course passages, code produces every number.</a:t>
            </a:r>
            <a:endParaRPr lang="en-US" sz="1500" dirty="0"/>
          </a:p>
          <a:p>
            <a:pPr marL="342900" indent="-342900">
              <a:spcAft>
                <a:spcPts val="1400"/>
              </a:spcAft>
              <a:buSzPct val="100000"/>
              <a:buChar char="•"/>
            </a:pPr>
            <a:r>
              <a:rPr lang="en-US" sz="1500" dirty="0">
                <a:solidFill>
                  <a:schemeClr val="bg1"/>
                </a:solidFill>
              </a:rPr>
              <a:t>The same recorded solver states let the system diagnose a student's first wrong step and replay the real algorithm.</a:t>
            </a:r>
            <a:endParaRPr lang="en-US" sz="1500" dirty="0"/>
          </a:p>
          <a:p>
            <a:pPr marL="342900" indent="-342900">
              <a:spcAft>
                <a:spcPts val="1400"/>
              </a:spcAft>
              <a:buSzPct val="100000"/>
              <a:buChar char="•"/>
            </a:pPr>
            <a:r>
              <a:rPr lang="en-US" sz="1500" dirty="0">
                <a:solidFill>
                  <a:schemeClr val="bg1"/>
                </a:solidFill>
              </a:rPr>
              <a:t>Measured: Hit@1 71.8% → 76.9% (held-out 84.2% → 94.7%) with Hit@6 at 98.7%; 71 automated tests pass.</a:t>
            </a:r>
            <a:endParaRPr lang="en-US" sz="1500" dirty="0"/>
          </a:p>
        </p:txBody>
      </p:sp>
      <p:sp>
        <p:nvSpPr>
          <p:cNvPr id="5" name="Shape 3"/>
          <p:cNvSpPr/>
          <p:nvPr/>
        </p:nvSpPr>
        <p:spPr>
          <a:xfrm>
            <a:off x="6766560" y="1371600"/>
            <a:ext cx="4873752" cy="4206240"/>
          </a:xfrm>
          <a:prstGeom prst="rect">
            <a:avLst/>
          </a:prstGeom>
          <a:solidFill>
            <a:schemeClr val="bg1">
              <a:alpha val="10000"/>
            </a:schemeClr>
          </a:solidFill>
          <a:ln w="12700">
            <a:solidFill>
              <a:schemeClr val="accent1"/>
            </a:solidFill>
            <a:prstDash val="solid"/>
          </a:ln>
        </p:spPr>
      </p:sp>
      <p:sp>
        <p:nvSpPr>
          <p:cNvPr id="6" name="Text 4"/>
          <p:cNvSpPr txBox="1"/>
          <p:nvPr/>
        </p:nvSpPr>
        <p:spPr>
          <a:xfrm>
            <a:off x="7040880" y="1554480"/>
            <a:ext cx="4389120" cy="41148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Future work</a:t>
            </a:r>
            <a:endParaRPr lang="en-US" sz="1900" dirty="0"/>
          </a:p>
        </p:txBody>
      </p:sp>
      <p:sp>
        <p:nvSpPr>
          <p:cNvPr id="7" name="Text 5"/>
          <p:cNvSpPr txBox="1"/>
          <p:nvPr/>
        </p:nvSpPr>
        <p:spPr>
          <a:xfrm>
            <a:off x="7040880" y="210312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7589520" y="2057400"/>
            <a:ext cx="3840480" cy="1005840"/>
          </a:xfrm>
          <a:prstGeom prst="rect">
            <a:avLst/>
          </a:prstGeom>
          <a:noFill/>
          <a:ln/>
        </p:spPr>
        <p:txBody>
          <a:bodyPr wrap="square" lIns="0" tIns="0" rIns="0" bIns="0" rtlCol="0" anchor="t"/>
          <a:lstStyle/>
          <a:p>
            <a:pPr indent="0" marL="0">
              <a:buNone/>
            </a:pPr>
            <a:r>
              <a:rPr lang="en-US" sz="1350" b="1" dirty="0">
                <a:solidFill>
                  <a:schemeClr val="bg1"/>
                </a:solidFill>
              </a:rPr>
              <a:t>Reranking stage</a:t>
            </a:r>
            <a:endParaRPr lang="en-US" sz="1350" dirty="0"/>
          </a:p>
          <a:p>
            <a:pPr indent="0" marL="0">
              <a:buNone/>
            </a:pPr>
            <a:r>
              <a:rPr lang="en-US" sz="1350" dirty="0">
                <a:solidFill>
                  <a:schemeClr val="bg1"/>
                </a:solidFill>
              </a:rPr>
              <a:t>A cross-encoder over the fused candidates, to fix the adjacent-section errors that remain.</a:t>
            </a:r>
            <a:endParaRPr lang="en-US" sz="1350" dirty="0"/>
          </a:p>
        </p:txBody>
      </p:sp>
      <p:sp>
        <p:nvSpPr>
          <p:cNvPr id="9" name="Text 7"/>
          <p:cNvSpPr txBox="1"/>
          <p:nvPr/>
        </p:nvSpPr>
        <p:spPr>
          <a:xfrm>
            <a:off x="7040880" y="321868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7589520" y="3172968"/>
            <a:ext cx="3840480" cy="1005840"/>
          </a:xfrm>
          <a:prstGeom prst="rect">
            <a:avLst/>
          </a:prstGeom>
          <a:noFill/>
          <a:ln/>
        </p:spPr>
        <p:txBody>
          <a:bodyPr wrap="square" lIns="0" tIns="0" rIns="0" bIns="0" rtlCol="0" anchor="t"/>
          <a:lstStyle/>
          <a:p>
            <a:pPr indent="0" marL="0">
              <a:buNone/>
            </a:pPr>
            <a:r>
              <a:rPr lang="en-US" sz="1350" b="1" dirty="0">
                <a:solidFill>
                  <a:schemeClr val="bg1"/>
                </a:solidFill>
              </a:rPr>
              <a:t>Validation with students</a:t>
            </a:r>
            <a:endParaRPr lang="en-US" sz="1350" dirty="0"/>
          </a:p>
          <a:p>
            <a:pPr indent="0" marL="0">
              <a:buNone/>
            </a:pPr>
            <a:r>
              <a:rPr lang="en-US" sz="1350" dirty="0">
                <a:solidFill>
                  <a:schemeClr val="bg1"/>
                </a:solidFill>
              </a:rPr>
              <a:t>A usability study, and checking the misconception rules against real outcomes.</a:t>
            </a:r>
            <a:endParaRPr lang="en-US" sz="1350" dirty="0"/>
          </a:p>
        </p:txBody>
      </p:sp>
      <p:sp>
        <p:nvSpPr>
          <p:cNvPr id="11" name="Text 9"/>
          <p:cNvSpPr txBox="1"/>
          <p:nvPr/>
        </p:nvSpPr>
        <p:spPr>
          <a:xfrm>
            <a:off x="7040880" y="433425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7589520" y="4288536"/>
            <a:ext cx="3840480" cy="1005840"/>
          </a:xfrm>
          <a:prstGeom prst="rect">
            <a:avLst/>
          </a:prstGeom>
          <a:noFill/>
          <a:ln/>
        </p:spPr>
        <p:txBody>
          <a:bodyPr wrap="square" lIns="0" tIns="0" rIns="0" bIns="0" rtlCol="0" anchor="t"/>
          <a:lstStyle/>
          <a:p>
            <a:pPr indent="0" marL="0">
              <a:buNone/>
            </a:pPr>
            <a:r>
              <a:rPr lang="en-US" sz="1350" b="1" dirty="0">
                <a:solidFill>
                  <a:schemeClr val="bg1"/>
                </a:solidFill>
              </a:rPr>
              <a:t>Evaluating LLM output</a:t>
            </a:r>
            <a:endParaRPr lang="en-US" sz="1350" dirty="0"/>
          </a:p>
          <a:p>
            <a:pPr indent="0" marL="0">
              <a:buNone/>
            </a:pPr>
            <a:r>
              <a:rPr lang="en-US" sz="1350" dirty="0">
                <a:solidFill>
                  <a:schemeClr val="bg1"/>
                </a:solidFill>
              </a:rPr>
              <a:t>Measure answer and question quality, and make the progress file safe for concurrent sessions.</a:t>
            </a:r>
            <a:endParaRPr lang="en-US" sz="1350" dirty="0"/>
          </a:p>
        </p:txBody>
      </p:sp>
      <p:sp>
        <p:nvSpPr>
          <p:cNvPr id="13" name="Text 1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6"/>
                </a:solidFill>
              </a:rPr>
              <a:t>Not validated in this project: the quality of LLM-written content, and learning outcomes with students.</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References</a:t>
            </a:r>
            <a:endParaRPr lang="en-US" sz="2800" dirty="0"/>
          </a:p>
        </p:txBody>
      </p:sp>
      <p:sp>
        <p:nvSpPr>
          <p:cNvPr id="3" name="Text 1"/>
          <p:cNvSpPr txBox="1"/>
          <p:nvPr/>
        </p:nvSpPr>
        <p:spPr>
          <a:xfrm>
            <a:off x="548640" y="1325880"/>
            <a:ext cx="548640" cy="64008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4" name="Text 2"/>
          <p:cNvSpPr txBox="1"/>
          <p:nvPr/>
        </p:nvSpPr>
        <p:spPr>
          <a:xfrm>
            <a:off x="1143000" y="1325880"/>
            <a:ext cx="10424160" cy="640080"/>
          </a:xfrm>
          <a:prstGeom prst="rect">
            <a:avLst/>
          </a:prstGeom>
          <a:noFill/>
          <a:ln/>
        </p:spPr>
        <p:txBody>
          <a:bodyPr wrap="square" lIns="0" tIns="0" rIns="0" bIns="0" rtlCol="0" anchor="t"/>
          <a:lstStyle/>
          <a:p>
            <a:pPr indent="0" marL="0">
              <a:buNone/>
            </a:pPr>
            <a:r>
              <a:rPr lang="en-US" sz="1400" dirty="0">
                <a:solidFill>
                  <a:schemeClr val="tx1"/>
                </a:solidFill>
              </a:rPr>
              <a:t>A. Silberschatz, P. B. Galvin, and G. Gagne, </a:t>
            </a:r>
            <a:pPr indent="0" marL="0">
              <a:buNone/>
            </a:pPr>
            <a:r>
              <a:rPr lang="en-US" sz="1400" i="1" dirty="0">
                <a:solidFill>
                  <a:schemeClr val="tx1"/>
                </a:solidFill>
              </a:rPr>
              <a:t>Operating System Concepts</a:t>
            </a:r>
            <a:pPr indent="0" marL="0">
              <a:buNone/>
            </a:pPr>
            <a:r>
              <a:rPr lang="en-US" sz="1400" dirty="0">
                <a:solidFill>
                  <a:schemeClr val="tx1"/>
                </a:solidFill>
              </a:rPr>
              <a:t>, 10th ed. Hoboken, NJ, USA: Wiley, 2018.</a:t>
            </a:r>
            <a:endParaRPr lang="en-US" sz="1400" dirty="0"/>
          </a:p>
        </p:txBody>
      </p:sp>
      <p:sp>
        <p:nvSpPr>
          <p:cNvPr id="5" name="Text 3"/>
          <p:cNvSpPr txBox="1"/>
          <p:nvPr/>
        </p:nvSpPr>
        <p:spPr>
          <a:xfrm>
            <a:off x="548640" y="2084832"/>
            <a:ext cx="548640" cy="640080"/>
          </a:xfrm>
          <a:prstGeom prst="rect">
            <a:avLst/>
          </a:prstGeom>
          <a:noFill/>
          <a:ln/>
        </p:spPr>
        <p:txBody>
          <a:bodyPr wrap="square" lIns="0" tIns="0" rIns="0" bIns="0" rtlCol="0" anchor="t"/>
          <a:lstStyle/>
          <a:p>
            <a:pPr indent="0" marL="0">
              <a:buNone/>
            </a:pPr>
            <a:r>
              <a:rPr lang="en-US" sz="1400" b="1" dirty="0">
                <a:solidFill>
                  <a:schemeClr val="accent1"/>
                </a:solidFill>
              </a:rPr>
              <a:t>[2]</a:t>
            </a:r>
            <a:endParaRPr lang="en-US" sz="1400" dirty="0"/>
          </a:p>
        </p:txBody>
      </p:sp>
      <p:sp>
        <p:nvSpPr>
          <p:cNvPr id="6" name="Text 4"/>
          <p:cNvSpPr txBox="1"/>
          <p:nvPr/>
        </p:nvSpPr>
        <p:spPr>
          <a:xfrm>
            <a:off x="1143000" y="2084832"/>
            <a:ext cx="10424160" cy="640080"/>
          </a:xfrm>
          <a:prstGeom prst="rect">
            <a:avLst/>
          </a:prstGeom>
          <a:noFill/>
          <a:ln/>
        </p:spPr>
        <p:txBody>
          <a:bodyPr wrap="square" lIns="0" tIns="0" rIns="0" bIns="0" rtlCol="0" anchor="t"/>
          <a:lstStyle/>
          <a:p>
            <a:pPr indent="0" marL="0">
              <a:buNone/>
            </a:pPr>
            <a:r>
              <a:rPr lang="en-US" sz="1400" dirty="0">
                <a:solidFill>
                  <a:schemeClr val="tx1"/>
                </a:solidFill>
              </a:rPr>
              <a:t>P. Lewis et al., "Retrieval-augmented generation for knowledge-intensive NLP tasks," in </a:t>
            </a:r>
            <a:pPr indent="0" marL="0">
              <a:buNone/>
            </a:pPr>
            <a:r>
              <a:rPr lang="en-US" sz="1400" i="1" dirty="0">
                <a:solidFill>
                  <a:schemeClr val="tx1"/>
                </a:solidFill>
              </a:rPr>
              <a:t>Advances in Neural Information Processing Systems 33 (NeurIPS 2020)</a:t>
            </a:r>
            <a:pPr indent="0" marL="0">
              <a:buNone/>
            </a:pPr>
            <a:r>
              <a:rPr lang="en-US" sz="1400" dirty="0">
                <a:solidFill>
                  <a:schemeClr val="tx1"/>
                </a:solidFill>
              </a:rPr>
              <a:t>, 2020, pp. 9459-9474.</a:t>
            </a:r>
            <a:endParaRPr lang="en-US" sz="1400" dirty="0"/>
          </a:p>
        </p:txBody>
      </p:sp>
      <p:sp>
        <p:nvSpPr>
          <p:cNvPr id="7" name="Text 5"/>
          <p:cNvSpPr txBox="1"/>
          <p:nvPr/>
        </p:nvSpPr>
        <p:spPr>
          <a:xfrm>
            <a:off x="548640" y="2843784"/>
            <a:ext cx="548640" cy="640080"/>
          </a:xfrm>
          <a:prstGeom prst="rect">
            <a:avLst/>
          </a:prstGeom>
          <a:noFill/>
          <a:ln/>
        </p:spPr>
        <p:txBody>
          <a:bodyPr wrap="square" lIns="0" tIns="0" rIns="0" bIns="0" rtlCol="0" anchor="t"/>
          <a:lstStyle/>
          <a:p>
            <a:pPr indent="0" marL="0">
              <a:buNone/>
            </a:pPr>
            <a:r>
              <a:rPr lang="en-US" sz="1400" b="1" dirty="0">
                <a:solidFill>
                  <a:schemeClr val="accent1"/>
                </a:solidFill>
              </a:rPr>
              <a:t>[3]</a:t>
            </a:r>
            <a:endParaRPr lang="en-US" sz="1400" dirty="0"/>
          </a:p>
        </p:txBody>
      </p:sp>
      <p:sp>
        <p:nvSpPr>
          <p:cNvPr id="8" name="Text 6"/>
          <p:cNvSpPr txBox="1"/>
          <p:nvPr/>
        </p:nvSpPr>
        <p:spPr>
          <a:xfrm>
            <a:off x="1143000" y="2843784"/>
            <a:ext cx="10424160" cy="640080"/>
          </a:xfrm>
          <a:prstGeom prst="rect">
            <a:avLst/>
          </a:prstGeom>
          <a:noFill/>
          <a:ln/>
        </p:spPr>
        <p:txBody>
          <a:bodyPr wrap="square" lIns="0" tIns="0" rIns="0" bIns="0" rtlCol="0" anchor="t"/>
          <a:lstStyle/>
          <a:p>
            <a:pPr indent="0" marL="0">
              <a:buNone/>
            </a:pPr>
            <a:r>
              <a:rPr lang="en-US" sz="1400" dirty="0">
                <a:solidFill>
                  <a:schemeClr val="tx1"/>
                </a:solidFill>
              </a:rPr>
              <a:t>S. Robertson and H. Zaragoza, "The probabilistic relevance framework: BM25 and beyond," </a:t>
            </a:r>
            <a:pPr indent="0" marL="0">
              <a:buNone/>
            </a:pPr>
            <a:r>
              <a:rPr lang="en-US" sz="1400" i="1" dirty="0">
                <a:solidFill>
                  <a:schemeClr val="tx1"/>
                </a:solidFill>
              </a:rPr>
              <a:t>Foundations and Trends in Information Retrieval</a:t>
            </a:r>
            <a:pPr indent="0" marL="0">
              <a:buNone/>
            </a:pPr>
            <a:r>
              <a:rPr lang="en-US" sz="1400" dirty="0">
                <a:solidFill>
                  <a:schemeClr val="tx1"/>
                </a:solidFill>
              </a:rPr>
              <a:t>, vol. 3, no. 4, pp. 333-389, 2009, doi: 10.1561/1500000019.</a:t>
            </a:r>
            <a:endParaRPr lang="en-US" sz="1400" dirty="0"/>
          </a:p>
        </p:txBody>
      </p:sp>
      <p:sp>
        <p:nvSpPr>
          <p:cNvPr id="9" name="Text 7"/>
          <p:cNvSpPr txBox="1"/>
          <p:nvPr/>
        </p:nvSpPr>
        <p:spPr>
          <a:xfrm>
            <a:off x="548640" y="3602736"/>
            <a:ext cx="548640" cy="640080"/>
          </a:xfrm>
          <a:prstGeom prst="rect">
            <a:avLst/>
          </a:prstGeom>
          <a:noFill/>
          <a:ln/>
        </p:spPr>
        <p:txBody>
          <a:bodyPr wrap="square" lIns="0" tIns="0" rIns="0" bIns="0" rtlCol="0" anchor="t"/>
          <a:lstStyle/>
          <a:p>
            <a:pPr indent="0" marL="0">
              <a:buNone/>
            </a:pPr>
            <a:r>
              <a:rPr lang="en-US" sz="1400" b="1" dirty="0">
                <a:solidFill>
                  <a:schemeClr val="accent1"/>
                </a:solidFill>
              </a:rPr>
              <a:t>[5]</a:t>
            </a:r>
            <a:endParaRPr lang="en-US" sz="1400" dirty="0"/>
          </a:p>
        </p:txBody>
      </p:sp>
      <p:sp>
        <p:nvSpPr>
          <p:cNvPr id="10" name="Text 8"/>
          <p:cNvSpPr txBox="1"/>
          <p:nvPr/>
        </p:nvSpPr>
        <p:spPr>
          <a:xfrm>
            <a:off x="1143000" y="3602736"/>
            <a:ext cx="10424160" cy="640080"/>
          </a:xfrm>
          <a:prstGeom prst="rect">
            <a:avLst/>
          </a:prstGeom>
          <a:noFill/>
          <a:ln/>
        </p:spPr>
        <p:txBody>
          <a:bodyPr wrap="square" lIns="0" tIns="0" rIns="0" bIns="0" rtlCol="0" anchor="t"/>
          <a:lstStyle/>
          <a:p>
            <a:pPr indent="0" marL="0">
              <a:buNone/>
            </a:pPr>
            <a:r>
              <a:rPr lang="en-US" sz="1400" dirty="0">
                <a:solidFill>
                  <a:schemeClr val="tx1"/>
                </a:solidFill>
              </a:rPr>
              <a:t>S. Xiao, Z. Liu, P. Zhang, N. Muennighoff, D. Lian, and J.-Y. Nie, "C-Pack: Packed resources for general Chinese embeddings," arXiv:2309.07597, 2023.</a:t>
            </a:r>
            <a:endParaRPr lang="en-US" sz="1400" dirty="0"/>
          </a:p>
        </p:txBody>
      </p:sp>
      <p:sp>
        <p:nvSpPr>
          <p:cNvPr id="11" name="Text 9"/>
          <p:cNvSpPr txBox="1"/>
          <p:nvPr/>
        </p:nvSpPr>
        <p:spPr>
          <a:xfrm>
            <a:off x="548640" y="4361688"/>
            <a:ext cx="548640" cy="640080"/>
          </a:xfrm>
          <a:prstGeom prst="rect">
            <a:avLst/>
          </a:prstGeom>
          <a:noFill/>
          <a:ln/>
        </p:spPr>
        <p:txBody>
          <a:bodyPr wrap="square" lIns="0" tIns="0" rIns="0" bIns="0" rtlCol="0" anchor="t"/>
          <a:lstStyle/>
          <a:p>
            <a:pPr indent="0" marL="0">
              <a:buNone/>
            </a:pPr>
            <a:r>
              <a:rPr lang="en-US" sz="1400" b="1" dirty="0">
                <a:solidFill>
                  <a:schemeClr val="accent1"/>
                </a:solidFill>
              </a:rPr>
              <a:t>[9]</a:t>
            </a:r>
            <a:endParaRPr lang="en-US" sz="1400" dirty="0"/>
          </a:p>
        </p:txBody>
      </p:sp>
      <p:sp>
        <p:nvSpPr>
          <p:cNvPr id="12" name="Text 10"/>
          <p:cNvSpPr txBox="1"/>
          <p:nvPr/>
        </p:nvSpPr>
        <p:spPr>
          <a:xfrm>
            <a:off x="1143000" y="4361688"/>
            <a:ext cx="10424160" cy="640080"/>
          </a:xfrm>
          <a:prstGeom prst="rect">
            <a:avLst/>
          </a:prstGeom>
          <a:noFill/>
          <a:ln/>
        </p:spPr>
        <p:txBody>
          <a:bodyPr wrap="square" lIns="0" tIns="0" rIns="0" bIns="0" rtlCol="0" anchor="t"/>
          <a:lstStyle/>
          <a:p>
            <a:pPr indent="0" marL="0">
              <a:buNone/>
            </a:pPr>
            <a:r>
              <a:rPr lang="en-US" sz="1400" dirty="0">
                <a:solidFill>
                  <a:schemeClr val="tx1"/>
                </a:solidFill>
              </a:rPr>
              <a:t>G. V. Cormack, C. L. A. Clarke, and S. Büttcher, "Reciprocal rank fusion outperforms Condorcet and individual rank learning methods," in </a:t>
            </a:r>
            <a:pPr indent="0" marL="0">
              <a:buNone/>
            </a:pPr>
            <a:r>
              <a:rPr lang="en-US" sz="1400" i="1" dirty="0">
                <a:solidFill>
                  <a:schemeClr val="tx1"/>
                </a:solidFill>
              </a:rPr>
              <a:t>Proc. 32nd Int. ACM SIGIR Conf. Research and Development in Information Retrieval</a:t>
            </a:r>
            <a:pPr indent="0" marL="0">
              <a:buNone/>
            </a:pPr>
            <a:r>
              <a:rPr lang="en-US" sz="1400" dirty="0">
                <a:solidFill>
                  <a:schemeClr val="tx1"/>
                </a:solidFill>
              </a:rPr>
              <a:t>, 2009, pp. 758-759, doi: 10.1145/1571941.1572114.</a:t>
            </a:r>
            <a:endParaRPr lang="en-US" sz="1400" dirty="0"/>
          </a:p>
        </p:txBody>
      </p:sp>
      <p:sp>
        <p:nvSpPr>
          <p:cNvPr id="13" name="Text 11"/>
          <p:cNvSpPr txBox="1"/>
          <p:nvPr/>
        </p:nvSpPr>
        <p:spPr>
          <a:xfrm>
            <a:off x="548640" y="5120640"/>
            <a:ext cx="548640" cy="640080"/>
          </a:xfrm>
          <a:prstGeom prst="rect">
            <a:avLst/>
          </a:prstGeom>
          <a:noFill/>
          <a:ln/>
        </p:spPr>
        <p:txBody>
          <a:bodyPr wrap="square" lIns="0" tIns="0" rIns="0" bIns="0" rtlCol="0" anchor="t"/>
          <a:lstStyle/>
          <a:p>
            <a:pPr indent="0" marL="0">
              <a:buNone/>
            </a:pPr>
            <a:r>
              <a:rPr lang="en-US" sz="1400" b="1" dirty="0">
                <a:solidFill>
                  <a:schemeClr val="accent1"/>
                </a:solidFill>
              </a:rPr>
              <a:t>[10]</a:t>
            </a:r>
            <a:endParaRPr lang="en-US" sz="1400" dirty="0"/>
          </a:p>
        </p:txBody>
      </p:sp>
      <p:sp>
        <p:nvSpPr>
          <p:cNvPr id="14" name="Text 12"/>
          <p:cNvSpPr txBox="1"/>
          <p:nvPr/>
        </p:nvSpPr>
        <p:spPr>
          <a:xfrm>
            <a:off x="1143000" y="5120640"/>
            <a:ext cx="10424160" cy="640080"/>
          </a:xfrm>
          <a:prstGeom prst="rect">
            <a:avLst/>
          </a:prstGeom>
          <a:noFill/>
          <a:ln/>
        </p:spPr>
        <p:txBody>
          <a:bodyPr wrap="square" lIns="0" tIns="0" rIns="0" bIns="0" rtlCol="0" anchor="t"/>
          <a:lstStyle/>
          <a:p>
            <a:pPr indent="0" marL="0">
              <a:buNone/>
            </a:pPr>
            <a:r>
              <a:rPr lang="en-US" sz="1400" dirty="0">
                <a:solidFill>
                  <a:schemeClr val="tx1"/>
                </a:solidFill>
              </a:rPr>
              <a:t>OpenAI, "gpt-oss-120b &amp; gpt-oss-20b model card," arXiv:2508.10925, 2025.</a:t>
            </a:r>
            <a:endParaRPr lang="en-US" sz="1400" dirty="0"/>
          </a:p>
        </p:txBody>
      </p:sp>
      <p:sp>
        <p:nvSpPr>
          <p:cNvPr id="15" name="Text 13"/>
          <p:cNvSpPr txBox="1"/>
          <p:nvPr/>
        </p:nvSpPr>
        <p:spPr>
          <a:xfrm>
            <a:off x="548640" y="5943600"/>
            <a:ext cx="10424160" cy="365760"/>
          </a:xfrm>
          <a:prstGeom prst="rect">
            <a:avLst/>
          </a:prstGeom>
          <a:noFill/>
          <a:ln/>
        </p:spPr>
        <p:txBody>
          <a:bodyPr wrap="square" lIns="0" tIns="0" rIns="0" bIns="0" rtlCol="0" anchor="ctr"/>
          <a:lstStyle/>
          <a:p>
            <a:pPr indent="0" marL="0">
              <a:buNone/>
            </a:pPr>
            <a:r>
              <a:rPr lang="en-US" sz="1150" i="1" dirty="0">
                <a:solidFill>
                  <a:schemeClr val="accent5"/>
                </a:solidFill>
              </a:rPr>
              <a:t>Numbers follow the project report's reference list (16 entries), which also cites the libraries, model documentation and course material used.</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Smosis">
  <a:themeElements>
    <a:clrScheme name="OSmosis">
      <a:dk1>
        <a:srgbClr val="1F2937"/>
      </a:dk1>
      <a:lt1>
        <a:srgbClr val="FFFFFF"/>
      </a:lt1>
      <a:dk2>
        <a:srgbClr val="1E3A5F"/>
      </a:dk2>
      <a:lt2>
        <a:srgbClr val="F1F5F9"/>
      </a:lt2>
      <a:accent1>
        <a:srgbClr val="0F766E"/>
      </a:accent1>
      <a:accent2>
        <a:srgbClr val="9F1239"/>
      </a:accent2>
      <a:accent3>
        <a:srgbClr val="5B21B6"/>
      </a:accent3>
      <a:accent4>
        <a:srgbClr val="B45309"/>
      </a:accent4>
      <a:accent5>
        <a:srgbClr val="64748B"/>
      </a:accent5>
      <a:accent6>
        <a:srgbClr val="94A3B8"/>
      </a:accent6>
      <a:hlink>
        <a:srgbClr val="0F766E"/>
      </a:hlink>
      <a:folHlink>
        <a:srgbClr val="5B21B6"/>
      </a:folHlink>
    </a:clrScheme>
    <a:fontScheme name="OSmo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OSmosis: Project Presentation</dc:title>
  <dc:subject>PptxGenJS Presentation</dc:subject>
  <dc:creator>PptxGenJS</dc:creator>
  <cp:lastModifiedBy>PptxGenJS</cp:lastModifiedBy>
  <cp:revision>1</cp:revision>
  <dcterms:created xsi:type="dcterms:W3CDTF">2026-10-23T18:36:57Z</dcterms:created>
  <dcterms:modified xsi:type="dcterms:W3CDTF">2026-10-23T18:36:57Z</dcterms:modified>
</cp:coreProperties>
</file>